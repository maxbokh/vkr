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71" r:id="rId5"/>
    <p:sldId id="272" r:id="rId6"/>
    <p:sldId id="273" r:id="rId7"/>
    <p:sldId id="275" r:id="rId8"/>
    <p:sldId id="276" r:id="rId9"/>
    <p:sldId id="291" r:id="rId10"/>
    <p:sldId id="277" r:id="rId11"/>
    <p:sldId id="278" r:id="rId12"/>
    <p:sldId id="281" r:id="rId13"/>
    <p:sldId id="289" r:id="rId14"/>
    <p:sldId id="288" r:id="rId15"/>
    <p:sldId id="290" r:id="rId16"/>
    <p:sldId id="287" r:id="rId17"/>
    <p:sldId id="286" r:id="rId18"/>
    <p:sldId id="285" r:id="rId19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7"/>
    <p:restoredTop sz="94715"/>
  </p:normalViewPr>
  <p:slideViewPr>
    <p:cSldViewPr snapToGrid="0" snapToObjects="1">
      <p:cViewPr varScale="1">
        <p:scale>
          <a:sx n="118" d="100"/>
          <a:sy n="118" d="100"/>
        </p:scale>
        <p:origin x="864" y="20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EB90E9-1C38-7948-8D71-11271C7D6F2B}" type="doc">
      <dgm:prSet loTypeId="urn:microsoft.com/office/officeart/2005/8/layout/vProcess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10FC7C7-4CAE-3748-9BF4-095CE1245AEE}">
      <dgm:prSet phldrT="[Текст]"/>
      <dgm:spPr/>
      <dgm:t>
        <a:bodyPr/>
        <a:lstStyle/>
        <a:p>
          <a:pPr>
            <a:buFont typeface="+mj-lt"/>
            <a:buAutoNum type="arabicPeriod"/>
          </a:pPr>
          <a:r>
            <a:rPr lang="ru-RU" b="0" i="0" dirty="0"/>
            <a:t>Классификация метрик</a:t>
          </a:r>
          <a:endParaRPr lang="ru-RU" dirty="0"/>
        </a:p>
      </dgm:t>
    </dgm:pt>
    <dgm:pt modelId="{87C19FD9-07E4-3948-86C9-5A4CE1B5F966}" type="parTrans" cxnId="{DF49AD35-1FAD-7F4B-87C6-DDD7401634B4}">
      <dgm:prSet/>
      <dgm:spPr/>
      <dgm:t>
        <a:bodyPr/>
        <a:lstStyle/>
        <a:p>
          <a:endParaRPr lang="ru-RU"/>
        </a:p>
      </dgm:t>
    </dgm:pt>
    <dgm:pt modelId="{0F20CD76-8334-D948-B974-198341A9B530}" type="sibTrans" cxnId="{DF49AD35-1FAD-7F4B-87C6-DDD7401634B4}">
      <dgm:prSet/>
      <dgm:spPr/>
      <dgm:t>
        <a:bodyPr/>
        <a:lstStyle/>
        <a:p>
          <a:endParaRPr lang="ru-RU"/>
        </a:p>
      </dgm:t>
    </dgm:pt>
    <dgm:pt modelId="{20D82C0E-9E54-6A40-B82C-F28EBD4D4060}">
      <dgm:prSet phldrT="[Текст]"/>
      <dgm:spPr/>
      <dgm:t>
        <a:bodyPr/>
        <a:lstStyle/>
        <a:p>
          <a:pPr>
            <a:buNone/>
          </a:pPr>
          <a:r>
            <a:rPr lang="ru-RU" b="0" i="0" dirty="0"/>
            <a:t>Валидация на 22 млн строк</a:t>
          </a:r>
          <a:endParaRPr lang="ru-RU" dirty="0"/>
        </a:p>
      </dgm:t>
    </dgm:pt>
    <dgm:pt modelId="{8CF33853-00B6-EA47-9D32-CF082C01D9B7}" type="parTrans" cxnId="{2CD58FE6-C4AB-9049-A37A-425BC3A5B070}">
      <dgm:prSet/>
      <dgm:spPr/>
      <dgm:t>
        <a:bodyPr/>
        <a:lstStyle/>
        <a:p>
          <a:endParaRPr lang="ru-RU"/>
        </a:p>
      </dgm:t>
    </dgm:pt>
    <dgm:pt modelId="{F24CE4B0-F731-D44A-B78B-6C6769FBF17E}" type="sibTrans" cxnId="{2CD58FE6-C4AB-9049-A37A-425BC3A5B070}">
      <dgm:prSet/>
      <dgm:spPr/>
      <dgm:t>
        <a:bodyPr/>
        <a:lstStyle/>
        <a:p>
          <a:endParaRPr lang="ru-RU"/>
        </a:p>
      </dgm:t>
    </dgm:pt>
    <dgm:pt modelId="{7C59336A-A02E-8740-9D09-470044CED8AE}">
      <dgm:prSet phldrT="[Текст]" phldr="1"/>
      <dgm:spPr/>
      <dgm:t>
        <a:bodyPr/>
        <a:lstStyle/>
        <a:p>
          <a:endParaRPr lang="ru-RU"/>
        </a:p>
      </dgm:t>
    </dgm:pt>
    <dgm:pt modelId="{BB1AE620-13E6-9641-909B-B68E695B5A1A}" type="parTrans" cxnId="{68E61F3C-91D8-B94F-BB2A-2580D70A6F53}">
      <dgm:prSet/>
      <dgm:spPr/>
      <dgm:t>
        <a:bodyPr/>
        <a:lstStyle/>
        <a:p>
          <a:endParaRPr lang="ru-RU"/>
        </a:p>
      </dgm:t>
    </dgm:pt>
    <dgm:pt modelId="{BE03053E-0FBE-A94E-B661-56E5181239A0}" type="sibTrans" cxnId="{68E61F3C-91D8-B94F-BB2A-2580D70A6F53}">
      <dgm:prSet/>
      <dgm:spPr/>
      <dgm:t>
        <a:bodyPr/>
        <a:lstStyle/>
        <a:p>
          <a:endParaRPr lang="ru-RU"/>
        </a:p>
      </dgm:t>
    </dgm:pt>
    <dgm:pt modelId="{85B93EED-60DA-064F-8D9E-81E693DFD755}">
      <dgm:prSet/>
      <dgm:spPr/>
      <dgm:t>
        <a:bodyPr/>
        <a:lstStyle/>
        <a:p>
          <a:endParaRPr lang="ru-RU"/>
        </a:p>
      </dgm:t>
    </dgm:pt>
    <dgm:pt modelId="{68D3B9A6-1D65-E845-B781-7ADCDF852C0B}" type="parTrans" cxnId="{636A459F-49A6-D849-9660-CD6BF1B53A7A}">
      <dgm:prSet/>
      <dgm:spPr/>
      <dgm:t>
        <a:bodyPr/>
        <a:lstStyle/>
        <a:p>
          <a:endParaRPr lang="ru-RU"/>
        </a:p>
      </dgm:t>
    </dgm:pt>
    <dgm:pt modelId="{13039B05-BEB4-A248-9AD3-8258EEF300D5}" type="sibTrans" cxnId="{636A459F-49A6-D849-9660-CD6BF1B53A7A}">
      <dgm:prSet/>
      <dgm:spPr/>
      <dgm:t>
        <a:bodyPr/>
        <a:lstStyle/>
        <a:p>
          <a:endParaRPr lang="ru-RU"/>
        </a:p>
      </dgm:t>
    </dgm:pt>
    <dgm:pt modelId="{82D1DC64-40BE-DE43-AE1E-0E8718C5E6F0}">
      <dgm:prSet/>
      <dgm:spPr/>
      <dgm:t>
        <a:bodyPr/>
        <a:lstStyle/>
        <a:p>
          <a:endParaRPr lang="ru-RU"/>
        </a:p>
      </dgm:t>
    </dgm:pt>
    <dgm:pt modelId="{2F95FEB7-DCF4-FA4D-924F-8B0518AAEF50}" type="parTrans" cxnId="{53806B74-56BB-B942-A17E-84BF0896FE2D}">
      <dgm:prSet/>
      <dgm:spPr/>
      <dgm:t>
        <a:bodyPr/>
        <a:lstStyle/>
        <a:p>
          <a:endParaRPr lang="ru-RU"/>
        </a:p>
      </dgm:t>
    </dgm:pt>
    <dgm:pt modelId="{FED7A611-0C16-EA46-82FD-22D6303312EA}" type="sibTrans" cxnId="{53806B74-56BB-B942-A17E-84BF0896FE2D}">
      <dgm:prSet/>
      <dgm:spPr/>
      <dgm:t>
        <a:bodyPr/>
        <a:lstStyle/>
        <a:p>
          <a:endParaRPr lang="ru-RU"/>
        </a:p>
      </dgm:t>
    </dgm:pt>
    <dgm:pt modelId="{464B54A3-DEBC-7448-BA46-ABF708B68E0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" b="0" i="0" dirty="0"/>
            <a:t>Unified Decision Tree</a:t>
          </a:r>
          <a:endParaRPr lang="ru-RU" b="0" i="0" dirty="0"/>
        </a:p>
      </dgm:t>
    </dgm:pt>
    <dgm:pt modelId="{8F67D79E-3BC5-9740-A99A-456CF7EC0445}" type="parTrans" cxnId="{AB6A9E1C-0C18-AA4F-9908-18888D221295}">
      <dgm:prSet/>
      <dgm:spPr/>
      <dgm:t>
        <a:bodyPr/>
        <a:lstStyle/>
        <a:p>
          <a:endParaRPr lang="ru-RU"/>
        </a:p>
      </dgm:t>
    </dgm:pt>
    <dgm:pt modelId="{DBE78EB4-F340-B949-ADC2-1997BD36445D}" type="sibTrans" cxnId="{AB6A9E1C-0C18-AA4F-9908-18888D221295}">
      <dgm:prSet/>
      <dgm:spPr/>
      <dgm:t>
        <a:bodyPr/>
        <a:lstStyle/>
        <a:p>
          <a:endParaRPr lang="ru-RU"/>
        </a:p>
      </dgm:t>
    </dgm:pt>
    <dgm:pt modelId="{4F9E338A-5C48-C74B-9AA3-4613B5B45CF1}">
      <dgm:prSet/>
      <dgm:spPr/>
      <dgm:t>
        <a:bodyPr/>
        <a:lstStyle/>
        <a:p>
          <a:pPr>
            <a:buFont typeface="+mj-lt"/>
            <a:buAutoNum type="arabicPeriod"/>
          </a:pPr>
          <a:r>
            <a:rPr lang="ru-RU" b="0" i="0" dirty="0"/>
            <a:t>Обзор и сравнение критериев</a:t>
          </a:r>
        </a:p>
      </dgm:t>
    </dgm:pt>
    <dgm:pt modelId="{FF0929C7-C32C-ED41-80C6-897A8191E11B}" type="parTrans" cxnId="{39558FE2-4404-254B-B637-7A8A20136726}">
      <dgm:prSet/>
      <dgm:spPr/>
      <dgm:t>
        <a:bodyPr/>
        <a:lstStyle/>
        <a:p>
          <a:endParaRPr lang="ru-RU"/>
        </a:p>
      </dgm:t>
    </dgm:pt>
    <dgm:pt modelId="{1817A6B0-882C-DE4B-9DB5-D3C55BB0960D}" type="sibTrans" cxnId="{39558FE2-4404-254B-B637-7A8A20136726}">
      <dgm:prSet/>
      <dgm:spPr/>
      <dgm:t>
        <a:bodyPr/>
        <a:lstStyle/>
        <a:p>
          <a:endParaRPr lang="ru-RU"/>
        </a:p>
      </dgm:t>
    </dgm:pt>
    <dgm:pt modelId="{1BD29DCD-0DC5-A54D-980D-F8CD6BFC35CA}">
      <dgm:prSet/>
      <dgm:spPr/>
    </dgm:pt>
    <dgm:pt modelId="{46ADAF37-2358-2144-8BC6-3984A242060F}" type="parTrans" cxnId="{DBA5CBC7-B556-CA44-848A-CFD3F9415CAB}">
      <dgm:prSet/>
      <dgm:spPr/>
      <dgm:t>
        <a:bodyPr/>
        <a:lstStyle/>
        <a:p>
          <a:endParaRPr lang="ru-RU"/>
        </a:p>
      </dgm:t>
    </dgm:pt>
    <dgm:pt modelId="{6882AD98-3A87-7F41-B30B-C8B1825642F0}" type="sibTrans" cxnId="{DBA5CBC7-B556-CA44-848A-CFD3F9415CAB}">
      <dgm:prSet/>
      <dgm:spPr/>
      <dgm:t>
        <a:bodyPr/>
        <a:lstStyle/>
        <a:p>
          <a:endParaRPr lang="ru-RU"/>
        </a:p>
      </dgm:t>
    </dgm:pt>
    <dgm:pt modelId="{265C7BD7-D4D8-A449-A569-70C2500851AA}">
      <dgm:prSet/>
      <dgm:spPr/>
      <dgm:t>
        <a:bodyPr/>
        <a:lstStyle/>
        <a:p>
          <a:pPr>
            <a:buNone/>
          </a:pPr>
          <a:r>
            <a:rPr lang="ru-RU" b="0" i="0" dirty="0"/>
            <a:t>Рекомендации</a:t>
          </a:r>
          <a:endParaRPr lang="ru-RU" dirty="0"/>
        </a:p>
      </dgm:t>
    </dgm:pt>
    <dgm:pt modelId="{D3682855-7328-4448-BBFF-E82E4BE96057}" type="parTrans" cxnId="{C323ED9D-9C99-4D46-B1D6-FAC3EBC27C4E}">
      <dgm:prSet/>
      <dgm:spPr/>
      <dgm:t>
        <a:bodyPr/>
        <a:lstStyle/>
        <a:p>
          <a:endParaRPr lang="ru-RU"/>
        </a:p>
      </dgm:t>
    </dgm:pt>
    <dgm:pt modelId="{36F0A5AA-672F-854B-A11B-21E47C3267EB}" type="sibTrans" cxnId="{C323ED9D-9C99-4D46-B1D6-FAC3EBC27C4E}">
      <dgm:prSet/>
      <dgm:spPr/>
      <dgm:t>
        <a:bodyPr/>
        <a:lstStyle/>
        <a:p>
          <a:endParaRPr lang="ru-RU"/>
        </a:p>
      </dgm:t>
    </dgm:pt>
    <dgm:pt modelId="{F01CF7C5-0668-264C-A71F-A1FE0443AA77}" type="pres">
      <dgm:prSet presAssocID="{CEEB90E9-1C38-7948-8D71-11271C7D6F2B}" presName="outerComposite" presStyleCnt="0">
        <dgm:presLayoutVars>
          <dgm:chMax val="5"/>
          <dgm:dir/>
          <dgm:resizeHandles val="exact"/>
        </dgm:presLayoutVars>
      </dgm:prSet>
      <dgm:spPr/>
    </dgm:pt>
    <dgm:pt modelId="{D5E56217-06AB-454A-AE83-8788D767C672}" type="pres">
      <dgm:prSet presAssocID="{CEEB90E9-1C38-7948-8D71-11271C7D6F2B}" presName="dummyMaxCanvas" presStyleCnt="0">
        <dgm:presLayoutVars/>
      </dgm:prSet>
      <dgm:spPr/>
    </dgm:pt>
    <dgm:pt modelId="{87843D97-C042-9E47-978A-3502DB9E7C4E}" type="pres">
      <dgm:prSet presAssocID="{CEEB90E9-1C38-7948-8D71-11271C7D6F2B}" presName="FiveNodes_1" presStyleLbl="node1" presStyleIdx="0" presStyleCnt="5" custLinFactNeighborX="-14984" custLinFactNeighborY="-26040">
        <dgm:presLayoutVars>
          <dgm:bulletEnabled val="1"/>
        </dgm:presLayoutVars>
      </dgm:prSet>
      <dgm:spPr/>
    </dgm:pt>
    <dgm:pt modelId="{69470425-8C38-D949-8C76-454A45461D79}" type="pres">
      <dgm:prSet presAssocID="{CEEB90E9-1C38-7948-8D71-11271C7D6F2B}" presName="FiveNodes_2" presStyleLbl="node1" presStyleIdx="1" presStyleCnt="5">
        <dgm:presLayoutVars>
          <dgm:bulletEnabled val="1"/>
        </dgm:presLayoutVars>
      </dgm:prSet>
      <dgm:spPr/>
    </dgm:pt>
    <dgm:pt modelId="{F0BB0B3E-8F63-BD4D-9501-4106918AE6A8}" type="pres">
      <dgm:prSet presAssocID="{CEEB90E9-1C38-7948-8D71-11271C7D6F2B}" presName="FiveNodes_3" presStyleLbl="node1" presStyleIdx="2" presStyleCnt="5">
        <dgm:presLayoutVars>
          <dgm:bulletEnabled val="1"/>
        </dgm:presLayoutVars>
      </dgm:prSet>
      <dgm:spPr/>
    </dgm:pt>
    <dgm:pt modelId="{E9D4D3CE-C6F9-3D4D-935C-D00E1C1EF343}" type="pres">
      <dgm:prSet presAssocID="{CEEB90E9-1C38-7948-8D71-11271C7D6F2B}" presName="FiveNodes_4" presStyleLbl="node1" presStyleIdx="3" presStyleCnt="5">
        <dgm:presLayoutVars>
          <dgm:bulletEnabled val="1"/>
        </dgm:presLayoutVars>
      </dgm:prSet>
      <dgm:spPr/>
    </dgm:pt>
    <dgm:pt modelId="{84AD1444-268C-5346-B8E0-7346AC89C02B}" type="pres">
      <dgm:prSet presAssocID="{CEEB90E9-1C38-7948-8D71-11271C7D6F2B}" presName="FiveNodes_5" presStyleLbl="node1" presStyleIdx="4" presStyleCnt="5">
        <dgm:presLayoutVars>
          <dgm:bulletEnabled val="1"/>
        </dgm:presLayoutVars>
      </dgm:prSet>
      <dgm:spPr/>
    </dgm:pt>
    <dgm:pt modelId="{6343EAB0-1A19-6346-9738-EE1247DE6833}" type="pres">
      <dgm:prSet presAssocID="{CEEB90E9-1C38-7948-8D71-11271C7D6F2B}" presName="FiveConn_1-2" presStyleLbl="fgAccFollowNode1" presStyleIdx="0" presStyleCnt="4">
        <dgm:presLayoutVars>
          <dgm:bulletEnabled val="1"/>
        </dgm:presLayoutVars>
      </dgm:prSet>
      <dgm:spPr/>
    </dgm:pt>
    <dgm:pt modelId="{B90051D7-EFDB-8B40-A188-658B5935D2C4}" type="pres">
      <dgm:prSet presAssocID="{CEEB90E9-1C38-7948-8D71-11271C7D6F2B}" presName="FiveConn_2-3" presStyleLbl="fgAccFollowNode1" presStyleIdx="1" presStyleCnt="4">
        <dgm:presLayoutVars>
          <dgm:bulletEnabled val="1"/>
        </dgm:presLayoutVars>
      </dgm:prSet>
      <dgm:spPr/>
    </dgm:pt>
    <dgm:pt modelId="{CFE3FDF8-B351-8C42-A9C3-55D2218FB1A0}" type="pres">
      <dgm:prSet presAssocID="{CEEB90E9-1C38-7948-8D71-11271C7D6F2B}" presName="FiveConn_3-4" presStyleLbl="fgAccFollowNode1" presStyleIdx="2" presStyleCnt="4">
        <dgm:presLayoutVars>
          <dgm:bulletEnabled val="1"/>
        </dgm:presLayoutVars>
      </dgm:prSet>
      <dgm:spPr/>
    </dgm:pt>
    <dgm:pt modelId="{AD2BCA47-4618-7046-B7B3-1FE944AAF248}" type="pres">
      <dgm:prSet presAssocID="{CEEB90E9-1C38-7948-8D71-11271C7D6F2B}" presName="FiveConn_4-5" presStyleLbl="fgAccFollowNode1" presStyleIdx="3" presStyleCnt="4">
        <dgm:presLayoutVars>
          <dgm:bulletEnabled val="1"/>
        </dgm:presLayoutVars>
      </dgm:prSet>
      <dgm:spPr/>
    </dgm:pt>
    <dgm:pt modelId="{C4F947D1-EF48-D545-B876-B9DD6B3997F5}" type="pres">
      <dgm:prSet presAssocID="{CEEB90E9-1C38-7948-8D71-11271C7D6F2B}" presName="FiveNodes_1_text" presStyleLbl="node1" presStyleIdx="4" presStyleCnt="5">
        <dgm:presLayoutVars>
          <dgm:bulletEnabled val="1"/>
        </dgm:presLayoutVars>
      </dgm:prSet>
      <dgm:spPr/>
    </dgm:pt>
    <dgm:pt modelId="{194D5923-5272-5446-8CA6-CF496DACF157}" type="pres">
      <dgm:prSet presAssocID="{CEEB90E9-1C38-7948-8D71-11271C7D6F2B}" presName="FiveNodes_2_text" presStyleLbl="node1" presStyleIdx="4" presStyleCnt="5">
        <dgm:presLayoutVars>
          <dgm:bulletEnabled val="1"/>
        </dgm:presLayoutVars>
      </dgm:prSet>
      <dgm:spPr/>
    </dgm:pt>
    <dgm:pt modelId="{1B7FF539-AF7E-7047-AEE5-A85C413CF9C3}" type="pres">
      <dgm:prSet presAssocID="{CEEB90E9-1C38-7948-8D71-11271C7D6F2B}" presName="FiveNodes_3_text" presStyleLbl="node1" presStyleIdx="4" presStyleCnt="5">
        <dgm:presLayoutVars>
          <dgm:bulletEnabled val="1"/>
        </dgm:presLayoutVars>
      </dgm:prSet>
      <dgm:spPr/>
    </dgm:pt>
    <dgm:pt modelId="{7B7BD47A-C33E-7B41-9429-C9B7FFC8B0F4}" type="pres">
      <dgm:prSet presAssocID="{CEEB90E9-1C38-7948-8D71-11271C7D6F2B}" presName="FiveNodes_4_text" presStyleLbl="node1" presStyleIdx="4" presStyleCnt="5">
        <dgm:presLayoutVars>
          <dgm:bulletEnabled val="1"/>
        </dgm:presLayoutVars>
      </dgm:prSet>
      <dgm:spPr/>
    </dgm:pt>
    <dgm:pt modelId="{D18338D6-1FAB-664B-9CCA-614D09A2B67F}" type="pres">
      <dgm:prSet presAssocID="{CEEB90E9-1C38-7948-8D71-11271C7D6F2B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65098515-757D-1348-B0CA-BD491616A80E}" type="presOf" srcId="{20D82C0E-9E54-6A40-B82C-F28EBD4D4060}" destId="{E9D4D3CE-C6F9-3D4D-935C-D00E1C1EF343}" srcOrd="0" destOrd="0" presId="urn:microsoft.com/office/officeart/2005/8/layout/vProcess5"/>
    <dgm:cxn modelId="{AB6A9E1C-0C18-AA4F-9908-18888D221295}" srcId="{CEEB90E9-1C38-7948-8D71-11271C7D6F2B}" destId="{464B54A3-DEBC-7448-BA46-ABF708B68E0C}" srcOrd="2" destOrd="0" parTransId="{8F67D79E-3BC5-9740-A99A-456CF7EC0445}" sibTransId="{DBE78EB4-F340-B949-ADC2-1997BD36445D}"/>
    <dgm:cxn modelId="{F3E77127-B1AF-1543-ACAA-14C277BD6CDC}" type="presOf" srcId="{265C7BD7-D4D8-A449-A569-70C2500851AA}" destId="{84AD1444-268C-5346-B8E0-7346AC89C02B}" srcOrd="0" destOrd="0" presId="urn:microsoft.com/office/officeart/2005/8/layout/vProcess5"/>
    <dgm:cxn modelId="{9419C230-6141-F249-936C-1E1CF612A83B}" type="presOf" srcId="{4F9E338A-5C48-C74B-9AA3-4613B5B45CF1}" destId="{194D5923-5272-5446-8CA6-CF496DACF157}" srcOrd="1" destOrd="0" presId="urn:microsoft.com/office/officeart/2005/8/layout/vProcess5"/>
    <dgm:cxn modelId="{DF49AD35-1FAD-7F4B-87C6-DDD7401634B4}" srcId="{CEEB90E9-1C38-7948-8D71-11271C7D6F2B}" destId="{910FC7C7-4CAE-3748-9BF4-095CE1245AEE}" srcOrd="0" destOrd="0" parTransId="{87C19FD9-07E4-3948-86C9-5A4CE1B5F966}" sibTransId="{0F20CD76-8334-D948-B974-198341A9B530}"/>
    <dgm:cxn modelId="{364D553B-D0C5-FD4E-8A55-615AB69091D3}" type="presOf" srcId="{464B54A3-DEBC-7448-BA46-ABF708B68E0C}" destId="{F0BB0B3E-8F63-BD4D-9501-4106918AE6A8}" srcOrd="0" destOrd="0" presId="urn:microsoft.com/office/officeart/2005/8/layout/vProcess5"/>
    <dgm:cxn modelId="{68E61F3C-91D8-B94F-BB2A-2580D70A6F53}" srcId="{CEEB90E9-1C38-7948-8D71-11271C7D6F2B}" destId="{7C59336A-A02E-8740-9D09-470044CED8AE}" srcOrd="6" destOrd="0" parTransId="{BB1AE620-13E6-9641-909B-B68E695B5A1A}" sibTransId="{BE03053E-0FBE-A94E-B661-56E5181239A0}"/>
    <dgm:cxn modelId="{53806B74-56BB-B942-A17E-84BF0896FE2D}" srcId="{CEEB90E9-1C38-7948-8D71-11271C7D6F2B}" destId="{82D1DC64-40BE-DE43-AE1E-0E8718C5E6F0}" srcOrd="8" destOrd="0" parTransId="{2F95FEB7-DCF4-FA4D-924F-8B0518AAEF50}" sibTransId="{FED7A611-0C16-EA46-82FD-22D6303312EA}"/>
    <dgm:cxn modelId="{9415BB75-3100-9C48-8423-5CCD0EE65383}" type="presOf" srcId="{DBE78EB4-F340-B949-ADC2-1997BD36445D}" destId="{CFE3FDF8-B351-8C42-A9C3-55D2218FB1A0}" srcOrd="0" destOrd="0" presId="urn:microsoft.com/office/officeart/2005/8/layout/vProcess5"/>
    <dgm:cxn modelId="{0C68A476-86B8-6B46-AFFD-6D6171EEEEBA}" type="presOf" srcId="{1817A6B0-882C-DE4B-9DB5-D3C55BB0960D}" destId="{B90051D7-EFDB-8B40-A188-658B5935D2C4}" srcOrd="0" destOrd="0" presId="urn:microsoft.com/office/officeart/2005/8/layout/vProcess5"/>
    <dgm:cxn modelId="{39117779-C7A0-0F44-9A94-AE048FFCDE89}" type="presOf" srcId="{0F20CD76-8334-D948-B974-198341A9B530}" destId="{6343EAB0-1A19-6346-9738-EE1247DE6833}" srcOrd="0" destOrd="0" presId="urn:microsoft.com/office/officeart/2005/8/layout/vProcess5"/>
    <dgm:cxn modelId="{07B5E88D-5FDA-B74F-8D30-C1F3AFD85073}" type="presOf" srcId="{910FC7C7-4CAE-3748-9BF4-095CE1245AEE}" destId="{C4F947D1-EF48-D545-B876-B9DD6B3997F5}" srcOrd="1" destOrd="0" presId="urn:microsoft.com/office/officeart/2005/8/layout/vProcess5"/>
    <dgm:cxn modelId="{93DB0495-415F-ED44-9DDF-A40668BC6D82}" type="presOf" srcId="{265C7BD7-D4D8-A449-A569-70C2500851AA}" destId="{D18338D6-1FAB-664B-9CCA-614D09A2B67F}" srcOrd="1" destOrd="0" presId="urn:microsoft.com/office/officeart/2005/8/layout/vProcess5"/>
    <dgm:cxn modelId="{42112F98-51A2-B047-A32B-185847D76E23}" type="presOf" srcId="{910FC7C7-4CAE-3748-9BF4-095CE1245AEE}" destId="{87843D97-C042-9E47-978A-3502DB9E7C4E}" srcOrd="0" destOrd="0" presId="urn:microsoft.com/office/officeart/2005/8/layout/vProcess5"/>
    <dgm:cxn modelId="{C323ED9D-9C99-4D46-B1D6-FAC3EBC27C4E}" srcId="{CEEB90E9-1C38-7948-8D71-11271C7D6F2B}" destId="{265C7BD7-D4D8-A449-A569-70C2500851AA}" srcOrd="4" destOrd="0" parTransId="{D3682855-7328-4448-BBFF-E82E4BE96057}" sibTransId="{36F0A5AA-672F-854B-A11B-21E47C3267EB}"/>
    <dgm:cxn modelId="{636A459F-49A6-D849-9660-CD6BF1B53A7A}" srcId="{CEEB90E9-1C38-7948-8D71-11271C7D6F2B}" destId="{85B93EED-60DA-064F-8D9E-81E693DFD755}" srcOrd="7" destOrd="0" parTransId="{68D3B9A6-1D65-E845-B781-7ADCDF852C0B}" sibTransId="{13039B05-BEB4-A248-9AD3-8258EEF300D5}"/>
    <dgm:cxn modelId="{026834B8-965A-9E48-89AC-A6F26947E682}" type="presOf" srcId="{CEEB90E9-1C38-7948-8D71-11271C7D6F2B}" destId="{F01CF7C5-0668-264C-A71F-A1FE0443AA77}" srcOrd="0" destOrd="0" presId="urn:microsoft.com/office/officeart/2005/8/layout/vProcess5"/>
    <dgm:cxn modelId="{24006DBC-3627-E246-800F-C981CC407D60}" type="presOf" srcId="{4F9E338A-5C48-C74B-9AA3-4613B5B45CF1}" destId="{69470425-8C38-D949-8C76-454A45461D79}" srcOrd="0" destOrd="0" presId="urn:microsoft.com/office/officeart/2005/8/layout/vProcess5"/>
    <dgm:cxn modelId="{DBA5CBC7-B556-CA44-848A-CFD3F9415CAB}" srcId="{CEEB90E9-1C38-7948-8D71-11271C7D6F2B}" destId="{1BD29DCD-0DC5-A54D-980D-F8CD6BFC35CA}" srcOrd="5" destOrd="0" parTransId="{46ADAF37-2358-2144-8BC6-3984A242060F}" sibTransId="{6882AD98-3A87-7F41-B30B-C8B1825642F0}"/>
    <dgm:cxn modelId="{0D98BED3-42BB-7941-9E7A-73204CD87A0B}" type="presOf" srcId="{20D82C0E-9E54-6A40-B82C-F28EBD4D4060}" destId="{7B7BD47A-C33E-7B41-9429-C9B7FFC8B0F4}" srcOrd="1" destOrd="0" presId="urn:microsoft.com/office/officeart/2005/8/layout/vProcess5"/>
    <dgm:cxn modelId="{39558FE2-4404-254B-B637-7A8A20136726}" srcId="{CEEB90E9-1C38-7948-8D71-11271C7D6F2B}" destId="{4F9E338A-5C48-C74B-9AA3-4613B5B45CF1}" srcOrd="1" destOrd="0" parTransId="{FF0929C7-C32C-ED41-80C6-897A8191E11B}" sibTransId="{1817A6B0-882C-DE4B-9DB5-D3C55BB0960D}"/>
    <dgm:cxn modelId="{2CD58FE6-C4AB-9049-A37A-425BC3A5B070}" srcId="{CEEB90E9-1C38-7948-8D71-11271C7D6F2B}" destId="{20D82C0E-9E54-6A40-B82C-F28EBD4D4060}" srcOrd="3" destOrd="0" parTransId="{8CF33853-00B6-EA47-9D32-CF082C01D9B7}" sibTransId="{F24CE4B0-F731-D44A-B78B-6C6769FBF17E}"/>
    <dgm:cxn modelId="{99BA78EA-B79A-C643-B615-499A9739289F}" type="presOf" srcId="{464B54A3-DEBC-7448-BA46-ABF708B68E0C}" destId="{1B7FF539-AF7E-7047-AEE5-A85C413CF9C3}" srcOrd="1" destOrd="0" presId="urn:microsoft.com/office/officeart/2005/8/layout/vProcess5"/>
    <dgm:cxn modelId="{861125F2-D099-E44A-92CB-795893687740}" type="presOf" srcId="{F24CE4B0-F731-D44A-B78B-6C6769FBF17E}" destId="{AD2BCA47-4618-7046-B7B3-1FE944AAF248}" srcOrd="0" destOrd="0" presId="urn:microsoft.com/office/officeart/2005/8/layout/vProcess5"/>
    <dgm:cxn modelId="{6B52E273-F513-954D-B4F6-B91CB6EE6C0A}" type="presParOf" srcId="{F01CF7C5-0668-264C-A71F-A1FE0443AA77}" destId="{D5E56217-06AB-454A-AE83-8788D767C672}" srcOrd="0" destOrd="0" presId="urn:microsoft.com/office/officeart/2005/8/layout/vProcess5"/>
    <dgm:cxn modelId="{8AE8F193-376C-7843-B918-838029FA17E4}" type="presParOf" srcId="{F01CF7C5-0668-264C-A71F-A1FE0443AA77}" destId="{87843D97-C042-9E47-978A-3502DB9E7C4E}" srcOrd="1" destOrd="0" presId="urn:microsoft.com/office/officeart/2005/8/layout/vProcess5"/>
    <dgm:cxn modelId="{89FEF8FC-01E7-1247-BB3E-2C37BC99A187}" type="presParOf" srcId="{F01CF7C5-0668-264C-A71F-A1FE0443AA77}" destId="{69470425-8C38-D949-8C76-454A45461D79}" srcOrd="2" destOrd="0" presId="urn:microsoft.com/office/officeart/2005/8/layout/vProcess5"/>
    <dgm:cxn modelId="{F55417FB-17B9-4244-8565-7A602C03FD6C}" type="presParOf" srcId="{F01CF7C5-0668-264C-A71F-A1FE0443AA77}" destId="{F0BB0B3E-8F63-BD4D-9501-4106918AE6A8}" srcOrd="3" destOrd="0" presId="urn:microsoft.com/office/officeart/2005/8/layout/vProcess5"/>
    <dgm:cxn modelId="{6FED03F5-05D1-1749-8B76-6E5858186D73}" type="presParOf" srcId="{F01CF7C5-0668-264C-A71F-A1FE0443AA77}" destId="{E9D4D3CE-C6F9-3D4D-935C-D00E1C1EF343}" srcOrd="4" destOrd="0" presId="urn:microsoft.com/office/officeart/2005/8/layout/vProcess5"/>
    <dgm:cxn modelId="{4B594DE3-F9D7-8A45-A3F9-1D9B21A3A131}" type="presParOf" srcId="{F01CF7C5-0668-264C-A71F-A1FE0443AA77}" destId="{84AD1444-268C-5346-B8E0-7346AC89C02B}" srcOrd="5" destOrd="0" presId="urn:microsoft.com/office/officeart/2005/8/layout/vProcess5"/>
    <dgm:cxn modelId="{EF444AAB-2752-B842-9D15-A5B366FC6681}" type="presParOf" srcId="{F01CF7C5-0668-264C-A71F-A1FE0443AA77}" destId="{6343EAB0-1A19-6346-9738-EE1247DE6833}" srcOrd="6" destOrd="0" presId="urn:microsoft.com/office/officeart/2005/8/layout/vProcess5"/>
    <dgm:cxn modelId="{D8ED8066-57E3-314E-A5A8-D32D475822FC}" type="presParOf" srcId="{F01CF7C5-0668-264C-A71F-A1FE0443AA77}" destId="{B90051D7-EFDB-8B40-A188-658B5935D2C4}" srcOrd="7" destOrd="0" presId="urn:microsoft.com/office/officeart/2005/8/layout/vProcess5"/>
    <dgm:cxn modelId="{C651E47E-65FB-7147-A239-4CCAA376893C}" type="presParOf" srcId="{F01CF7C5-0668-264C-A71F-A1FE0443AA77}" destId="{CFE3FDF8-B351-8C42-A9C3-55D2218FB1A0}" srcOrd="8" destOrd="0" presId="urn:microsoft.com/office/officeart/2005/8/layout/vProcess5"/>
    <dgm:cxn modelId="{BED2CACB-C4D8-D646-8270-1FDD11A01974}" type="presParOf" srcId="{F01CF7C5-0668-264C-A71F-A1FE0443AA77}" destId="{AD2BCA47-4618-7046-B7B3-1FE944AAF248}" srcOrd="9" destOrd="0" presId="urn:microsoft.com/office/officeart/2005/8/layout/vProcess5"/>
    <dgm:cxn modelId="{D6801508-AB0D-8347-85A9-F08CBCB4E850}" type="presParOf" srcId="{F01CF7C5-0668-264C-A71F-A1FE0443AA77}" destId="{C4F947D1-EF48-D545-B876-B9DD6B3997F5}" srcOrd="10" destOrd="0" presId="urn:microsoft.com/office/officeart/2005/8/layout/vProcess5"/>
    <dgm:cxn modelId="{A7FD0616-5C4E-BE45-AD99-BB82DBF0E061}" type="presParOf" srcId="{F01CF7C5-0668-264C-A71F-A1FE0443AA77}" destId="{194D5923-5272-5446-8CA6-CF496DACF157}" srcOrd="11" destOrd="0" presId="urn:microsoft.com/office/officeart/2005/8/layout/vProcess5"/>
    <dgm:cxn modelId="{401426CB-C664-554F-9F60-FE3A0A36DE08}" type="presParOf" srcId="{F01CF7C5-0668-264C-A71F-A1FE0443AA77}" destId="{1B7FF539-AF7E-7047-AEE5-A85C413CF9C3}" srcOrd="12" destOrd="0" presId="urn:microsoft.com/office/officeart/2005/8/layout/vProcess5"/>
    <dgm:cxn modelId="{84F55F3D-3BE8-2245-8B61-6BDBD635D650}" type="presParOf" srcId="{F01CF7C5-0668-264C-A71F-A1FE0443AA77}" destId="{7B7BD47A-C33E-7B41-9429-C9B7FFC8B0F4}" srcOrd="13" destOrd="0" presId="urn:microsoft.com/office/officeart/2005/8/layout/vProcess5"/>
    <dgm:cxn modelId="{FEEC4375-9044-8446-AD18-8C12526093D6}" type="presParOf" srcId="{F01CF7C5-0668-264C-A71F-A1FE0443AA77}" destId="{D18338D6-1FAB-664B-9CCA-614D09A2B67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843D97-C042-9E47-978A-3502DB9E7C4E}">
      <dsp:nvSpPr>
        <dsp:cNvPr id="0" name=""/>
        <dsp:cNvSpPr/>
      </dsp:nvSpPr>
      <dsp:spPr>
        <a:xfrm>
          <a:off x="0" y="0"/>
          <a:ext cx="3922932" cy="704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1800" b="0" i="0" kern="1200" dirty="0"/>
            <a:t>Классификация метрик</a:t>
          </a:r>
          <a:endParaRPr lang="ru-RU" sz="1800" kern="1200" dirty="0"/>
        </a:p>
      </dsp:txBody>
      <dsp:txXfrm>
        <a:off x="20648" y="20648"/>
        <a:ext cx="3079734" cy="663672"/>
      </dsp:txXfrm>
    </dsp:sp>
    <dsp:sp modelId="{69470425-8C38-D949-8C76-454A45461D79}">
      <dsp:nvSpPr>
        <dsp:cNvPr id="0" name=""/>
        <dsp:cNvSpPr/>
      </dsp:nvSpPr>
      <dsp:spPr>
        <a:xfrm>
          <a:off x="292946" y="802881"/>
          <a:ext cx="3922932" cy="704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1800" b="0" i="0" kern="1200" dirty="0"/>
            <a:t>Обзор и сравнение критериев</a:t>
          </a:r>
        </a:p>
      </dsp:txBody>
      <dsp:txXfrm>
        <a:off x="313594" y="823529"/>
        <a:ext cx="3130460" cy="663672"/>
      </dsp:txXfrm>
    </dsp:sp>
    <dsp:sp modelId="{F0BB0B3E-8F63-BD4D-9501-4106918AE6A8}">
      <dsp:nvSpPr>
        <dsp:cNvPr id="0" name=""/>
        <dsp:cNvSpPr/>
      </dsp:nvSpPr>
      <dsp:spPr>
        <a:xfrm>
          <a:off x="585892" y="1605762"/>
          <a:ext cx="3922932" cy="704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" sz="1800" b="0" i="0" kern="1200" dirty="0"/>
            <a:t>Unified Decision Tree</a:t>
          </a:r>
          <a:endParaRPr lang="ru-RU" sz="1800" b="0" i="0" kern="1200" dirty="0"/>
        </a:p>
      </dsp:txBody>
      <dsp:txXfrm>
        <a:off x="606540" y="1626410"/>
        <a:ext cx="3130460" cy="663672"/>
      </dsp:txXfrm>
    </dsp:sp>
    <dsp:sp modelId="{E9D4D3CE-C6F9-3D4D-935C-D00E1C1EF343}">
      <dsp:nvSpPr>
        <dsp:cNvPr id="0" name=""/>
        <dsp:cNvSpPr/>
      </dsp:nvSpPr>
      <dsp:spPr>
        <a:xfrm>
          <a:off x="878838" y="2408643"/>
          <a:ext cx="3922932" cy="704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Валидация на 22 млн строк</a:t>
          </a:r>
          <a:endParaRPr lang="ru-RU" sz="1800" kern="1200" dirty="0"/>
        </a:p>
      </dsp:txBody>
      <dsp:txXfrm>
        <a:off x="899486" y="2429291"/>
        <a:ext cx="3130460" cy="663672"/>
      </dsp:txXfrm>
    </dsp:sp>
    <dsp:sp modelId="{84AD1444-268C-5346-B8E0-7346AC89C02B}">
      <dsp:nvSpPr>
        <dsp:cNvPr id="0" name=""/>
        <dsp:cNvSpPr/>
      </dsp:nvSpPr>
      <dsp:spPr>
        <a:xfrm>
          <a:off x="1171785" y="3211524"/>
          <a:ext cx="3922932" cy="704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Рекомендации</a:t>
          </a:r>
          <a:endParaRPr lang="ru-RU" sz="1800" kern="1200" dirty="0"/>
        </a:p>
      </dsp:txBody>
      <dsp:txXfrm>
        <a:off x="1192433" y="3232172"/>
        <a:ext cx="3130460" cy="663672"/>
      </dsp:txXfrm>
    </dsp:sp>
    <dsp:sp modelId="{6343EAB0-1A19-6346-9738-EE1247DE6833}">
      <dsp:nvSpPr>
        <dsp:cNvPr id="0" name=""/>
        <dsp:cNvSpPr/>
      </dsp:nvSpPr>
      <dsp:spPr>
        <a:xfrm>
          <a:off x="3464703" y="515018"/>
          <a:ext cx="458229" cy="458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/>
        </a:p>
      </dsp:txBody>
      <dsp:txXfrm>
        <a:off x="3567805" y="515018"/>
        <a:ext cx="252025" cy="344817"/>
      </dsp:txXfrm>
    </dsp:sp>
    <dsp:sp modelId="{B90051D7-EFDB-8B40-A188-658B5935D2C4}">
      <dsp:nvSpPr>
        <dsp:cNvPr id="0" name=""/>
        <dsp:cNvSpPr/>
      </dsp:nvSpPr>
      <dsp:spPr>
        <a:xfrm>
          <a:off x="3757649" y="1317899"/>
          <a:ext cx="458229" cy="458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/>
        </a:p>
      </dsp:txBody>
      <dsp:txXfrm>
        <a:off x="3860751" y="1317899"/>
        <a:ext cx="252025" cy="344817"/>
      </dsp:txXfrm>
    </dsp:sp>
    <dsp:sp modelId="{CFE3FDF8-B351-8C42-A9C3-55D2218FB1A0}">
      <dsp:nvSpPr>
        <dsp:cNvPr id="0" name=""/>
        <dsp:cNvSpPr/>
      </dsp:nvSpPr>
      <dsp:spPr>
        <a:xfrm>
          <a:off x="4050595" y="2109031"/>
          <a:ext cx="458229" cy="458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/>
        </a:p>
      </dsp:txBody>
      <dsp:txXfrm>
        <a:off x="4153697" y="2109031"/>
        <a:ext cx="252025" cy="344817"/>
      </dsp:txXfrm>
    </dsp:sp>
    <dsp:sp modelId="{AD2BCA47-4618-7046-B7B3-1FE944AAF248}">
      <dsp:nvSpPr>
        <dsp:cNvPr id="0" name=""/>
        <dsp:cNvSpPr/>
      </dsp:nvSpPr>
      <dsp:spPr>
        <a:xfrm>
          <a:off x="4343542" y="2919745"/>
          <a:ext cx="458229" cy="458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/>
        </a:p>
      </dsp:txBody>
      <dsp:txXfrm>
        <a:off x="4446644" y="2919745"/>
        <a:ext cx="252025" cy="3448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5/20/26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25392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14964-4503-6C1F-469D-10DAA2183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0D52F2D-9C08-7BA0-5563-45AA11AE7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553DE8-9223-4389-D8BF-6F3B8EB0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3BBD15-D4DF-B929-FDBE-0209AEA1B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17285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D6126-53CA-0E3C-CB9E-3091DD71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6419253-57A6-E982-89EA-8A2DB79E3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EBB3E20-A933-6051-5835-880C4C4E3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3CEE20-492F-F925-3993-CB60FBEBE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85400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9D425-424C-38A3-3FBF-CD27472FF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5D0ABB0-B74F-3EC9-0290-CD3A3E186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811AD75-A334-C6BF-4368-60F84B02C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E68779-DF30-2E4C-467B-330778F18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30765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8FA0-6AA1-BF07-4859-49382ADD5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4FCFCD0-22B6-9579-A653-48E42B3AC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EE3C33E-7D6C-B2FA-BBAD-73040AF73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4428F6-8BDA-0D83-0184-2CFDE0FA0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15122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5/20/26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riterion-oracle.lovable.app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dirty="0"/>
              <a:t>Разработка унифицированной методики выбора статистических критериев для анализа продуктовых метрик в условиях интеграции </a:t>
            </a:r>
            <a:r>
              <a:rPr lang="en" sz="3000" dirty="0"/>
              <a:t>UGC- </a:t>
            </a:r>
            <a:r>
              <a:rPr lang="ru-RU" sz="3000" dirty="0"/>
              <a:t>и </a:t>
            </a:r>
            <a:r>
              <a:rPr lang="en" sz="3000" dirty="0"/>
              <a:t>SVOD-</a:t>
            </a:r>
            <a:r>
              <a:rPr lang="ru-RU" sz="3000" dirty="0"/>
              <a:t>платформ (</a:t>
            </a:r>
            <a:r>
              <a:rPr lang="ru-RU" sz="3200" dirty="0"/>
              <a:t>На примере слияния </a:t>
            </a:r>
            <a:r>
              <a:rPr lang="en" sz="3200" dirty="0"/>
              <a:t>Rutube </a:t>
            </a:r>
            <a:r>
              <a:rPr lang="ru-RU" sz="3200" dirty="0"/>
              <a:t>и </a:t>
            </a:r>
            <a:r>
              <a:rPr lang="en" sz="3200" dirty="0"/>
              <a:t>Premier</a:t>
            </a:r>
            <a:r>
              <a:rPr lang="ru-RU" sz="3200" dirty="0"/>
              <a:t>)</a:t>
            </a:r>
            <a:endParaRPr lang="ru-RU" sz="30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Студент: Бохонко Максим Дмитриевич</a:t>
            </a:r>
          </a:p>
          <a:p>
            <a:r>
              <a:rPr lang="ru-RU" sz="2000" dirty="0"/>
              <a:t>Научный руководитель: Карпов Анатолий Дмитриевич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5E6887F-2AA2-D3A0-0DA8-785B286B32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53" r="2653"/>
          <a:stretch>
            <a:fillRect/>
          </a:stretch>
        </p:blipFill>
        <p:spPr>
          <a:xfrm>
            <a:off x="495759" y="2316709"/>
            <a:ext cx="5335699" cy="3280590"/>
          </a:xfrm>
          <a:prstGeom prst="rect">
            <a:avLst/>
          </a:prstGeo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 и проблематика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59893" y="1447790"/>
            <a:ext cx="4580706" cy="4347082"/>
          </a:xfrm>
        </p:spPr>
        <p:txBody>
          <a:bodyPr>
            <a:normAutofit/>
          </a:bodyPr>
          <a:lstStyle/>
          <a:p>
            <a:r>
              <a:rPr lang="ru-RU" sz="1600" dirty="0"/>
              <a:t>- </a:t>
            </a:r>
            <a:r>
              <a:rPr lang="en" sz="1600" dirty="0"/>
              <a:t>Rutube (UGC) </a:t>
            </a:r>
            <a:r>
              <a:rPr lang="ru-RU" sz="1600" dirty="0"/>
              <a:t>и </a:t>
            </a:r>
            <a:r>
              <a:rPr lang="en" sz="1600" dirty="0"/>
              <a:t>Premier (SVOD) </a:t>
            </a:r>
            <a:r>
              <a:rPr lang="ru-RU" sz="1600" dirty="0"/>
              <a:t>объединяются</a:t>
            </a:r>
          </a:p>
          <a:p>
            <a:r>
              <a:rPr lang="ru-RU" sz="1600" dirty="0"/>
              <a:t>- Разные бизнес-модели → разные типы метрик (вовлеченность </a:t>
            </a:r>
            <a:r>
              <a:rPr lang="en" sz="1600" dirty="0"/>
              <a:t>vs </a:t>
            </a:r>
            <a:r>
              <a:rPr lang="ru-RU" sz="1600" dirty="0"/>
              <a:t>подписка, </a:t>
            </a:r>
            <a:r>
              <a:rPr lang="en" sz="1600" dirty="0"/>
              <a:t>LTV)</a:t>
            </a:r>
          </a:p>
          <a:p>
            <a:r>
              <a:rPr lang="ru-RU" sz="1600" dirty="0"/>
              <a:t>- Статистические вызовы:</a:t>
            </a:r>
          </a:p>
          <a:p>
            <a:pPr lvl="1"/>
            <a:r>
              <a:rPr lang="en-US" sz="1600" dirty="0"/>
              <a:t>- </a:t>
            </a:r>
            <a:r>
              <a:rPr lang="ru-RU" sz="1600" dirty="0"/>
              <a:t>ненормальность распределений</a:t>
            </a:r>
          </a:p>
          <a:p>
            <a:pPr lvl="1"/>
            <a:r>
              <a:rPr lang="en-US" sz="1600" dirty="0"/>
              <a:t>- </a:t>
            </a:r>
            <a:r>
              <a:rPr lang="ru-RU" sz="1600" dirty="0"/>
              <a:t>неравенство дисперсий</a:t>
            </a:r>
          </a:p>
          <a:p>
            <a:pPr lvl="1"/>
            <a:r>
              <a:rPr lang="ru-RU" sz="1600" dirty="0"/>
              <a:t>- редкие события (досмотр 100%)</a:t>
            </a:r>
          </a:p>
          <a:p>
            <a:pPr lvl="1"/>
            <a:r>
              <a:rPr lang="ru-RU" dirty="0"/>
              <a:t>- </a:t>
            </a:r>
            <a:r>
              <a:rPr lang="ru-RU" sz="1600" dirty="0"/>
              <a:t>Отсутствие единого регламента в подходах аналитиков</a:t>
            </a:r>
          </a:p>
          <a:p>
            <a:r>
              <a:rPr lang="ru-RU" sz="1600" b="1" dirty="0"/>
              <a:t>Проблема:</a:t>
            </a:r>
            <a:r>
              <a:rPr lang="ru-RU" sz="1600" dirty="0"/>
              <a:t> отсутствует унифицированная методика выбора критерия для гибридной среды</a:t>
            </a:r>
          </a:p>
          <a:p>
            <a:endParaRPr lang="ru-RU" sz="14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663DA20D-03E8-0AA6-4A29-9D50C8B39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D399FCC5-806C-61E9-34C8-F5741F5ABD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и задачи</a:t>
            </a:r>
            <a:br>
              <a:rPr lang="ru-RU" b="1" dirty="0"/>
            </a:br>
            <a:endParaRPr lang="ru-RU" dirty="0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56BCFD65-9EF3-E2DF-B296-673D55F6AD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D5A00BF8-C162-071B-2E32-CBF70EE3F2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E490540F-1B9B-FBAE-035C-AC5EFF999C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D914A968-A26C-D255-C157-A0E767BE01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2392711"/>
              </p:ext>
            </p:extLst>
          </p:nvPr>
        </p:nvGraphicFramePr>
        <p:xfrm>
          <a:off x="6549134" y="1973254"/>
          <a:ext cx="5094718" cy="3916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60E4E79-BD2C-EE6D-F635-20FBCF33C84A}"/>
              </a:ext>
            </a:extLst>
          </p:cNvPr>
          <p:cNvSpPr txBox="1"/>
          <p:nvPr/>
        </p:nvSpPr>
        <p:spPr>
          <a:xfrm>
            <a:off x="410134" y="2228671"/>
            <a:ext cx="6098058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Цель работы:</a:t>
            </a:r>
            <a:br>
              <a:rPr lang="ru-RU" dirty="0"/>
            </a:br>
            <a:r>
              <a:rPr lang="ru-RU" dirty="0"/>
              <a:t>Разработать, обосновать и валидировать на реальных данных унифицированную методику выбора статистических критериев для анализа продуктовых метрик в условиях интеграции двух разных бизнес-моделей — видеоплатформы с пользовательским контентом (</a:t>
            </a:r>
            <a:r>
              <a:rPr lang="en" dirty="0"/>
              <a:t>Rutube) </a:t>
            </a:r>
            <a:r>
              <a:rPr lang="ru-RU" dirty="0"/>
              <a:t>и </a:t>
            </a:r>
            <a:r>
              <a:rPr lang="en" dirty="0"/>
              <a:t>SVOD-</a:t>
            </a:r>
            <a:r>
              <a:rPr lang="ru-RU" dirty="0"/>
              <a:t>сервиса платного доступа к фильмам и сериалам (</a:t>
            </a:r>
            <a:r>
              <a:rPr lang="en" dirty="0"/>
              <a:t>Premier)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686AF3F-C863-864E-AFDC-D574F8060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A1EC68-7619-8F49-AEC3-176ECF1F6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23B065-0902-0141-A245-63D5DCF436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872CBB7-AE1B-9D40-A298-6BDF023A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Данные и методология</a:t>
            </a:r>
            <a:br>
              <a:rPr lang="ru-RU" b="1" dirty="0"/>
            </a:br>
            <a:endParaRPr lang="ru-RU" b="1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FB6149F-8A00-E3EC-F9C6-D986FE09E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978714"/>
              </p:ext>
            </p:extLst>
          </p:nvPr>
        </p:nvGraphicFramePr>
        <p:xfrm>
          <a:off x="585899" y="2224815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978753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748923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863122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62934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Платформа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Строк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Период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417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Premier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Просмотры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7 310 706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2024-2025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63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Premier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Подписки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4 000 029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2024-2025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9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Rutube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Просмотры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7 309 964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2024-2025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148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Rutube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Подписки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3 505 404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2024-2025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93368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E348B76-DEFD-8394-9D74-6EB13E652F09}"/>
              </a:ext>
            </a:extLst>
          </p:cNvPr>
          <p:cNvSpPr txBox="1"/>
          <p:nvPr/>
        </p:nvSpPr>
        <p:spPr>
          <a:xfrm>
            <a:off x="585899" y="4240081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Метрики:</a:t>
            </a:r>
            <a:br>
              <a:rPr lang="ru-RU" dirty="0"/>
            </a:b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watchtime_total,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досмотры 25/50/75/100%, 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content_duration, money, ltv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BBD25F-BEE9-182B-B324-B3269EC793F8}"/>
              </a:ext>
            </a:extLst>
          </p:cNvPr>
          <p:cNvSpPr txBox="1"/>
          <p:nvPr/>
        </p:nvSpPr>
        <p:spPr>
          <a:xfrm>
            <a:off x="585899" y="5385950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Методы анализа:</a:t>
            </a:r>
            <a:br>
              <a:rPr lang="ru-RU" dirty="0"/>
            </a:b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t-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тест, Манна-Уитни, 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Z-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тест, бутстрап, логистическая регрессия, Каплан-Мейер, 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Log-rank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1150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86F7981-A866-4E4F-9C65-238C1CF1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B0430D-2AAB-034E-ACD0-CF459E67A8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FAF764-99F8-D24D-8800-048869E594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180B62D-0B0D-424A-9F38-8A8CCB1A7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2400" b="1" dirty="0"/>
              <a:t>Сравнение платформ: ключевые метрики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398BFA-C1A7-D648-9A19-8CD34E908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739496"/>
              </p:ext>
            </p:extLst>
          </p:nvPr>
        </p:nvGraphicFramePr>
        <p:xfrm>
          <a:off x="585788" y="2433240"/>
          <a:ext cx="812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9844">
                  <a:extLst>
                    <a:ext uri="{9D8B030D-6E8A-4147-A177-3AD203B41FA5}">
                      <a16:colId xmlns:a16="http://schemas.microsoft.com/office/drawing/2014/main" val="3524085436"/>
                    </a:ext>
                  </a:extLst>
                </a:gridCol>
                <a:gridCol w="1087395">
                  <a:extLst>
                    <a:ext uri="{9D8B030D-6E8A-4147-A177-3AD203B41FA5}">
                      <a16:colId xmlns:a16="http://schemas.microsoft.com/office/drawing/2014/main" val="1845656039"/>
                    </a:ext>
                  </a:extLst>
                </a:gridCol>
                <a:gridCol w="1346887">
                  <a:extLst>
                    <a:ext uri="{9D8B030D-6E8A-4147-A177-3AD203B41FA5}">
                      <a16:colId xmlns:a16="http://schemas.microsoft.com/office/drawing/2014/main" val="1426485614"/>
                    </a:ext>
                  </a:extLst>
                </a:gridCol>
                <a:gridCol w="1373874">
                  <a:extLst>
                    <a:ext uri="{9D8B030D-6E8A-4147-A177-3AD203B41FA5}">
                      <a16:colId xmlns:a16="http://schemas.microsoft.com/office/drawing/2014/main" val="3390277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Метрика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Rutube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Лидер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03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Среднее время просмотра (сек)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03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Медианное время просмотра (сек)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602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Доля досмотра 25%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57.7%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48.8%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942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Доля досмотра 50%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48.1%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38.1%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86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Доля досмотра 75%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40.5%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30.1%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09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Доля досмотра 100%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Rutube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52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ARPU (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руб.)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631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LTV (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руб.)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3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0113C99-0124-DC46-1B6E-D93F091A3A69}"/>
              </a:ext>
            </a:extLst>
          </p:cNvPr>
          <p:cNvSpPr txBox="1"/>
          <p:nvPr/>
        </p:nvSpPr>
        <p:spPr>
          <a:xfrm>
            <a:off x="549877" y="6124614"/>
            <a:ext cx="7888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0F1115"/>
                </a:solidFill>
                <a:effectLst/>
                <a:latin typeface="quote-cjk-patch"/>
              </a:rPr>
              <a:t>*</a:t>
            </a:r>
            <a:r>
              <a:rPr lang="ru-RU" b="0" i="1" dirty="0">
                <a:solidFill>
                  <a:srgbClr val="0F1115"/>
                </a:solidFill>
                <a:effectLst/>
                <a:latin typeface="quote-cjk-patch"/>
              </a:rPr>
              <a:t>Источник: расчёты по данным просмотров и подписок за 2024–2025 </a:t>
            </a:r>
            <a:r>
              <a:rPr lang="ru-RU" b="0" i="1" dirty="0" err="1">
                <a:solidFill>
                  <a:srgbClr val="0F1115"/>
                </a:solidFill>
                <a:effectLst/>
                <a:latin typeface="quote-cjk-patch"/>
              </a:rPr>
              <a:t>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5894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D48C-8924-24EA-2A3C-E2FDF9A8C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584AABB-64CC-D41B-9CA9-396346A17C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D76DFE-3802-9575-C20F-CD449F80AA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09E096-EDF0-A8A4-82B8-5751B66CD9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92426313-D0AA-2D9B-F47B-25B9681370A7}"/>
              </a:ext>
            </a:extLst>
          </p:cNvPr>
          <p:cNvSpPr txBox="1">
            <a:spLocks/>
          </p:cNvSpPr>
          <p:nvPr/>
        </p:nvSpPr>
        <p:spPr>
          <a:xfrm>
            <a:off x="585788" y="1447064"/>
            <a:ext cx="4322762" cy="703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/>
              <a:t>Результат: регламент для объединённой команды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EFA2B6-1386-7AED-29AD-7CA3E874CCD2}"/>
              </a:ext>
            </a:extLst>
          </p:cNvPr>
          <p:cNvSpPr txBox="1"/>
          <p:nvPr/>
        </p:nvSpPr>
        <p:spPr>
          <a:xfrm>
            <a:off x="725048" y="2640504"/>
            <a:ext cx="8143530" cy="268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Анализ показал: выбор критерия зависит от типа метрики, распределения, размера выборки и наличия выбросов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Чтобы это знание работало в команде, оно закреплено в регламенте — пошаговой инструкции для аналитика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Регламент включает: диагностику предпосылок, таблицы выбора критерия, запреты, порядок действий при неопределённости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Для автоматизации выбора разработан веб-прототип </a:t>
            </a:r>
            <a:r>
              <a:rPr lang="en" dirty="0"/>
              <a:t>Criterion Oracle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257A39-A65F-F0F8-E490-D70FDB186215}"/>
              </a:ext>
            </a:extLst>
          </p:cNvPr>
          <p:cNvSpPr txBox="1"/>
          <p:nvPr/>
        </p:nvSpPr>
        <p:spPr>
          <a:xfrm>
            <a:off x="725048" y="5939948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0F1115"/>
                </a:solidFill>
                <a:effectLst/>
                <a:latin typeface="quote-cjk-patch"/>
              </a:rPr>
              <a:t>*</a:t>
            </a:r>
            <a:r>
              <a:rPr lang="ru-RU" b="0" i="1" dirty="0">
                <a:solidFill>
                  <a:srgbClr val="0F1115"/>
                </a:solidFill>
                <a:effectLst/>
                <a:latin typeface="quote-cjk-patch"/>
              </a:rPr>
              <a:t>Полный текст регламента — в Приложении Б ВКР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9637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BE1F6DB-2C79-0F40-985F-DB8180BAFB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CC9B4C-151F-204A-9B26-BE1838EFB2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CD81CA-2715-AB4B-A575-27FBCE550D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6248A15-8E7E-BC4A-A1F2-4446573BC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Сравнение критериев: </a:t>
            </a:r>
            <a:r>
              <a:rPr lang="en" b="1" dirty="0"/>
              <a:t>t-</a:t>
            </a:r>
            <a:r>
              <a:rPr lang="ru-RU" b="1" dirty="0"/>
              <a:t>тест </a:t>
            </a:r>
            <a:r>
              <a:rPr lang="en" b="1" dirty="0"/>
              <a:t>vs </a:t>
            </a:r>
            <a:r>
              <a:rPr lang="ru-RU" b="1" dirty="0"/>
              <a:t>Манна-Уитни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8CE85D2-290A-9CD5-8948-E854F55A1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424622"/>
              </p:ext>
            </p:extLst>
          </p:nvPr>
        </p:nvGraphicFramePr>
        <p:xfrm>
          <a:off x="585899" y="2698537"/>
          <a:ext cx="5864328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5712">
                  <a:extLst>
                    <a:ext uri="{9D8B030D-6E8A-4147-A177-3AD203B41FA5}">
                      <a16:colId xmlns:a16="http://schemas.microsoft.com/office/drawing/2014/main" val="2531507854"/>
                    </a:ext>
                  </a:extLst>
                </a:gridCol>
                <a:gridCol w="3138616">
                  <a:extLst>
                    <a:ext uri="{9D8B030D-6E8A-4147-A177-3AD203B41FA5}">
                      <a16:colId xmlns:a16="http://schemas.microsoft.com/office/drawing/2014/main" val="1555854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899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t-</a:t>
                      </a:r>
                      <a:r>
                        <a:rPr lang="ru-RU" dirty="0"/>
                        <a:t>тест Уэлча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3.79e-49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59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Манна-Уитни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9.05e-84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096376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27AA99D7-020A-5940-C887-8384EEC42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081110"/>
              </p:ext>
            </p:extLst>
          </p:nvPr>
        </p:nvGraphicFramePr>
        <p:xfrm>
          <a:off x="585899" y="4440245"/>
          <a:ext cx="5864328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8069">
                  <a:extLst>
                    <a:ext uri="{9D8B030D-6E8A-4147-A177-3AD203B41FA5}">
                      <a16:colId xmlns:a16="http://schemas.microsoft.com/office/drawing/2014/main" val="2531507854"/>
                    </a:ext>
                  </a:extLst>
                </a:gridCol>
                <a:gridCol w="3126259">
                  <a:extLst>
                    <a:ext uri="{9D8B030D-6E8A-4147-A177-3AD203B41FA5}">
                      <a16:colId xmlns:a16="http://schemas.microsoft.com/office/drawing/2014/main" val="1555854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899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t-</a:t>
                      </a:r>
                      <a:r>
                        <a:rPr lang="ru-RU" dirty="0"/>
                        <a:t>тест Уэлча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0,161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59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Манна-Уитни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0,012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09637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029C7D9-D34D-F876-1194-104C2DD7F7D4}"/>
              </a:ext>
            </a:extLst>
          </p:cNvPr>
          <p:cNvSpPr txBox="1"/>
          <p:nvPr/>
        </p:nvSpPr>
        <p:spPr>
          <a:xfrm>
            <a:off x="487570" y="4060293"/>
            <a:ext cx="1898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400" b="1" dirty="0">
                <a:latin typeface="HSE Sans" panose="02000000000000000000" pitchFamily="2" charset="0"/>
              </a:rPr>
              <a:t>Сравнение при </a:t>
            </a:r>
            <a:r>
              <a:rPr lang="en-US" sz="1400" b="1" dirty="0">
                <a:latin typeface="HSE Sans" panose="02000000000000000000" pitchFamily="2" charset="0"/>
              </a:rPr>
              <a:t>n=100</a:t>
            </a:r>
            <a:endParaRPr lang="ru-RU" sz="1400" b="1" dirty="0">
              <a:latin typeface="HSE Sans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7BC3AE-D5A6-FAB7-9557-133C3B6C1AD0}"/>
              </a:ext>
            </a:extLst>
          </p:cNvPr>
          <p:cNvSpPr txBox="1"/>
          <p:nvPr/>
        </p:nvSpPr>
        <p:spPr>
          <a:xfrm>
            <a:off x="487570" y="2259726"/>
            <a:ext cx="2064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400" b="1" dirty="0">
                <a:latin typeface="HSE Sans" panose="02000000000000000000" pitchFamily="2" charset="0"/>
              </a:rPr>
              <a:t>Сравнение при </a:t>
            </a:r>
            <a:r>
              <a:rPr lang="en-US" sz="1400" b="1" dirty="0">
                <a:latin typeface="HSE Sans" panose="02000000000000000000" pitchFamily="2" charset="0"/>
              </a:rPr>
              <a:t>n=10 000</a:t>
            </a:r>
            <a:endParaRPr lang="ru-RU" sz="1400" b="1" dirty="0">
              <a:latin typeface="HSE Sans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75C9B9-BC87-F8D0-E660-480CCB583B29}"/>
              </a:ext>
            </a:extLst>
          </p:cNvPr>
          <p:cNvSpPr txBox="1"/>
          <p:nvPr/>
        </p:nvSpPr>
        <p:spPr>
          <a:xfrm>
            <a:off x="585899" y="5920343"/>
            <a:ext cx="60980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 dirty="0">
                <a:solidFill>
                  <a:srgbClr val="0F1115"/>
                </a:solidFill>
                <a:effectLst/>
                <a:latin typeface="quote-cjk-patch"/>
              </a:rPr>
              <a:t>*</a:t>
            </a:r>
            <a:r>
              <a:rPr lang="ru-RU" sz="1400" b="0" i="1" dirty="0">
                <a:solidFill>
                  <a:srgbClr val="0F1115"/>
                </a:solidFill>
                <a:effectLst/>
                <a:latin typeface="quote-cjk-patch"/>
              </a:rPr>
              <a:t>Манна-Уитни чувствительнее при малых выборках и скошенных распределениях</a:t>
            </a:r>
            <a:endParaRPr lang="ru-RU" sz="14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6D7541D-5764-9DE2-5ED0-8FF4E6573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369" y="1070181"/>
            <a:ext cx="4322530" cy="273579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C872AAF-C366-BF39-CF37-527392925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369" y="3805977"/>
            <a:ext cx="4220530" cy="284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55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239B216-F5ED-B348-A1BB-CE85242168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86A2D4-D42B-854C-9F3E-6A8095E580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8F0E61-4402-1545-ABC6-7EB156E5B9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B6EC5B9-282D-B84A-B169-E82D52070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Устойчивость критериев к выбросам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8D9E2707-53D6-34E8-1EBE-96D347CB7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901940"/>
              </p:ext>
            </p:extLst>
          </p:nvPr>
        </p:nvGraphicFramePr>
        <p:xfrm>
          <a:off x="360071" y="2262484"/>
          <a:ext cx="612382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762">
                  <a:extLst>
                    <a:ext uri="{9D8B030D-6E8A-4147-A177-3AD203B41FA5}">
                      <a16:colId xmlns:a16="http://schemas.microsoft.com/office/drawing/2014/main" val="1075613001"/>
                    </a:ext>
                  </a:extLst>
                </a:gridCol>
                <a:gridCol w="1075038">
                  <a:extLst>
                    <a:ext uri="{9D8B030D-6E8A-4147-A177-3AD203B41FA5}">
                      <a16:colId xmlns:a16="http://schemas.microsoft.com/office/drawing/2014/main" val="395176034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839558980"/>
                    </a:ext>
                  </a:extLst>
                </a:gridCol>
                <a:gridCol w="2051222">
                  <a:extLst>
                    <a:ext uri="{9D8B030D-6E8A-4147-A177-3AD203B41FA5}">
                      <a16:colId xmlns:a16="http://schemas.microsoft.com/office/drawing/2014/main" val="2687337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Доля выбросов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t-test p-value</a:t>
                      </a:r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Mann-Whitney p-value</a:t>
                      </a:r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Вывод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865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1.90e-06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9.50e-12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Оба значимы</a:t>
                      </a:r>
                      <a:r>
                        <a:rPr lang="en-US" dirty="0"/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56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0" dirty="0"/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0.497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5.38e-12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t-test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не значим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507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  <a:r>
                        <a:rPr lang="en-US" dirty="0"/>
                        <a:t>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2.47e-09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t-test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не значим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74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1.64e-08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t-test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не значим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05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1.73e-06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t-test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не значим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2979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D7C546B-FBC8-E206-6B76-4BFA33E65BF9}"/>
              </a:ext>
            </a:extLst>
          </p:cNvPr>
          <p:cNvSpPr txBox="1"/>
          <p:nvPr/>
        </p:nvSpPr>
        <p:spPr>
          <a:xfrm>
            <a:off x="585897" y="4903714"/>
            <a:ext cx="60980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*При 1% выбросов </a:t>
            </a:r>
            <a:r>
              <a:rPr lang="en" sz="1400" b="0" i="0" dirty="0">
                <a:solidFill>
                  <a:srgbClr val="0F1115"/>
                </a:solidFill>
                <a:effectLst/>
                <a:latin typeface="quote-cjk-patch"/>
              </a:rPr>
              <a:t>t-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тест перестаёт работать. Манна-Уитни сохраняет значимость даже при 20% засорения</a:t>
            </a:r>
            <a:endParaRPr lang="ru-RU" sz="14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32F0D66-FDF6-FF64-E707-0E2B66879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42" y="2046962"/>
            <a:ext cx="5310287" cy="361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59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FFBD88B-BF2A-8F44-B648-677BB7D975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6DFA47-ACB8-5246-AC9C-19D438CF65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A5DD86-C5F3-5843-B60F-AC26E1B16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060AA73-8574-054A-B94B-1EAA5FAB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734" y="1225369"/>
            <a:ext cx="6523037" cy="777025"/>
          </a:xfrm>
        </p:spPr>
        <p:txBody>
          <a:bodyPr/>
          <a:lstStyle/>
          <a:p>
            <a:r>
              <a:rPr lang="en" b="1" dirty="0"/>
              <a:t>Survival analysis: </a:t>
            </a:r>
            <a:r>
              <a:rPr lang="ru-RU" b="1" dirty="0"/>
              <a:t>удержание пользователей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8A797C0-BEE3-7FF2-31A0-7BE7C22DD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33" y="1720301"/>
            <a:ext cx="7835259" cy="49063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000100-DFBA-28A8-D7F8-03B648C98DEC}"/>
              </a:ext>
            </a:extLst>
          </p:cNvPr>
          <p:cNvSpPr txBox="1"/>
          <p:nvPr/>
        </p:nvSpPr>
        <p:spPr>
          <a:xfrm>
            <a:off x="8893776" y="2002394"/>
            <a:ext cx="2177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i="0" dirty="0">
                <a:solidFill>
                  <a:srgbClr val="0F1115"/>
                </a:solidFill>
                <a:effectLst/>
                <a:latin typeface="quote-cjk-patch"/>
              </a:rPr>
              <a:t>Log-rank 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тест:</a:t>
            </a:r>
            <a:br>
              <a:rPr lang="ru-RU" dirty="0"/>
            </a:b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χ² = 13037.8, 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p ≈ 0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CEE3C0-9D1F-15A4-2472-B11E272AA0C3}"/>
              </a:ext>
            </a:extLst>
          </p:cNvPr>
          <p:cNvSpPr txBox="1"/>
          <p:nvPr/>
        </p:nvSpPr>
        <p:spPr>
          <a:xfrm>
            <a:off x="8893776" y="5035379"/>
            <a:ext cx="30922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Удержание </a:t>
            </a:r>
            <a:r>
              <a:rPr lang="en" b="1" i="0" dirty="0">
                <a:solidFill>
                  <a:srgbClr val="0F1115"/>
                </a:solidFill>
                <a:effectLst/>
                <a:latin typeface="quote-cjk-patch"/>
              </a:rPr>
              <a:t>Premier 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выше на всём 30-дневном горизонте. Различия статистически значимы.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89723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E0CB-3216-360B-96C8-10FBDD9A6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5EBD589-DA6E-F792-A9C8-AA1D4AB830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A6F21B-9DA4-C8F1-D8C7-A9601A1057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F85E7F-AE68-7B21-ABC3-CFFAB1F323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E0F22D6-71CD-694D-1BCB-257985047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41" y="1274796"/>
            <a:ext cx="4665723" cy="777025"/>
          </a:xfrm>
        </p:spPr>
        <p:txBody>
          <a:bodyPr>
            <a:noAutofit/>
          </a:bodyPr>
          <a:lstStyle/>
          <a:p>
            <a:r>
              <a:rPr lang="en" b="1" dirty="0"/>
              <a:t>Unified Decision Tree — </a:t>
            </a:r>
            <a:r>
              <a:rPr lang="ru-RU" b="1" dirty="0"/>
              <a:t>схема выбора статистического критерия 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1CA7954-7CB6-37C8-1528-408DB2F89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31" y="2051821"/>
            <a:ext cx="6879969" cy="35313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E3260F-372A-0687-E009-33750BF1396B}"/>
              </a:ext>
            </a:extLst>
          </p:cNvPr>
          <p:cNvSpPr txBox="1"/>
          <p:nvPr/>
        </p:nvSpPr>
        <p:spPr>
          <a:xfrm>
            <a:off x="7315200" y="1274796"/>
            <a:ext cx="4665723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💡 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Пример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1:</a:t>
            </a:r>
            <a:b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1400" b="0" dirty="0">
                <a:solidFill>
                  <a:srgbClr val="0F1115"/>
                </a:solidFill>
                <a:effectLst/>
                <a:latin typeface="quote-cjk-patch"/>
              </a:rPr>
              <a:t>Для </a:t>
            </a:r>
            <a:r>
              <a:rPr lang="en" sz="1400" b="0" dirty="0">
                <a:solidFill>
                  <a:srgbClr val="0F1115"/>
                </a:solidFill>
                <a:effectLst/>
                <a:latin typeface="quote-cjk-patch"/>
              </a:rPr>
              <a:t>watchtime_total </a:t>
            </a:r>
            <a:r>
              <a:rPr lang="ru-RU" sz="1400" b="0" dirty="0">
                <a:solidFill>
                  <a:srgbClr val="0F1115"/>
                </a:solidFill>
                <a:effectLst/>
                <a:latin typeface="quote-cjk-patch"/>
              </a:rPr>
              <a:t>нормальность отвергнута, дисперсии не равны → по схеме идём в ветку «Манна-Уитни». Это подтвердилось на практике: критерий показал большую чувствительность, особенно на малых выборках.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💡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Пример 2:</a:t>
            </a:r>
            <a:b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Для бинарных метрик (досмотр 50%) мы дополнительно использовали логистическую регрессию — она подтвердила выводы </a:t>
            </a:r>
            <a:r>
              <a:rPr lang="en" sz="1400" b="0" i="0" dirty="0">
                <a:solidFill>
                  <a:srgbClr val="0F1115"/>
                </a:solidFill>
                <a:effectLst/>
                <a:latin typeface="quote-cjk-patch"/>
              </a:rPr>
              <a:t>Z-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теста и позволила учесть длительность видео.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💡 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Пример 3:</a:t>
            </a:r>
            <a:b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Для </a:t>
            </a:r>
            <a:r>
              <a:rPr lang="en" sz="1400" b="0" i="0" dirty="0">
                <a:solidFill>
                  <a:srgbClr val="0F1115"/>
                </a:solidFill>
                <a:effectLst/>
                <a:latin typeface="quote-cjk-patch"/>
              </a:rPr>
              <a:t>retention 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схема рекомендует </a:t>
            </a:r>
            <a:r>
              <a:rPr lang="en" sz="1400" b="0" i="0" dirty="0">
                <a:solidFill>
                  <a:srgbClr val="0F1115"/>
                </a:solidFill>
                <a:effectLst/>
                <a:latin typeface="quote-cjk-patch"/>
              </a:rPr>
              <a:t>Log-rank 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тест — он выявил значимые различия между платформами (</a:t>
            </a:r>
            <a:r>
              <a:rPr lang="el-GR" sz="1400" b="0" i="0" dirty="0">
                <a:solidFill>
                  <a:srgbClr val="0F1115"/>
                </a:solidFill>
                <a:effectLst/>
                <a:latin typeface="quote-cjk-patch"/>
              </a:rPr>
              <a:t>χ² = 13038, </a:t>
            </a:r>
            <a:r>
              <a:rPr lang="en" sz="1400" b="0" i="0" dirty="0">
                <a:solidFill>
                  <a:srgbClr val="0F1115"/>
                </a:solidFill>
                <a:effectLst/>
                <a:latin typeface="quote-cjk-patch"/>
              </a:rPr>
              <a:t>p ≈ 0).</a:t>
            </a:r>
          </a:p>
          <a:p>
            <a:pPr>
              <a:buNone/>
            </a:pPr>
            <a:br>
              <a:rPr lang="en" sz="1400" dirty="0"/>
            </a:br>
            <a:endParaRPr lang="ru-RU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D286E-BEC8-1C5D-BFF8-E75F13CACB0B}"/>
              </a:ext>
            </a:extLst>
          </p:cNvPr>
          <p:cNvSpPr txBox="1"/>
          <p:nvPr/>
        </p:nvSpPr>
        <p:spPr>
          <a:xfrm>
            <a:off x="552747" y="5963416"/>
            <a:ext cx="3764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solidFill>
                  <a:srgbClr val="0F1115"/>
                </a:solidFill>
                <a:effectLst/>
                <a:latin typeface="quote-cjk-patch"/>
              </a:rPr>
              <a:t>*</a:t>
            </a:r>
            <a:r>
              <a:rPr lang="ru-RU" sz="1200" b="0" i="1" dirty="0">
                <a:solidFill>
                  <a:srgbClr val="0F1115"/>
                </a:solidFill>
                <a:effectLst/>
                <a:latin typeface="quote-cjk-patch"/>
              </a:rPr>
              <a:t>Разработано на основе анализа реальных данных </a:t>
            </a:r>
            <a:r>
              <a:rPr lang="en" sz="1200" b="0" i="1" dirty="0">
                <a:solidFill>
                  <a:srgbClr val="0F1115"/>
                </a:solidFill>
                <a:effectLst/>
                <a:latin typeface="quote-cjk-patch"/>
              </a:rPr>
              <a:t>Rutube </a:t>
            </a:r>
            <a:r>
              <a:rPr lang="ru-RU" sz="1200" b="0" i="1" dirty="0">
                <a:solidFill>
                  <a:srgbClr val="0F1115"/>
                </a:solidFill>
                <a:effectLst/>
                <a:latin typeface="quote-cjk-patch"/>
              </a:rPr>
              <a:t>и </a:t>
            </a:r>
            <a:r>
              <a:rPr lang="en" sz="1200" b="0" i="1" dirty="0">
                <a:solidFill>
                  <a:srgbClr val="0F1115"/>
                </a:solidFill>
                <a:effectLst/>
                <a:latin typeface="quote-cjk-patch"/>
              </a:rPr>
              <a:t>Premier, 22 </a:t>
            </a:r>
            <a:r>
              <a:rPr lang="ru-RU" sz="1200" b="0" i="1" dirty="0">
                <a:solidFill>
                  <a:srgbClr val="0F1115"/>
                </a:solidFill>
                <a:effectLst/>
                <a:latin typeface="quote-cjk-patch"/>
              </a:rPr>
              <a:t>млн строк</a:t>
            </a:r>
            <a:br>
              <a:rPr lang="ru-RU" sz="1200" dirty="0"/>
            </a:br>
            <a:endParaRPr lang="ru-RU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374C8-4CCB-D795-AC0F-1CB851DE936F}"/>
              </a:ext>
            </a:extLst>
          </p:cNvPr>
          <p:cNvSpPr txBox="1"/>
          <p:nvPr/>
        </p:nvSpPr>
        <p:spPr>
          <a:xfrm>
            <a:off x="7315200" y="5016666"/>
            <a:ext cx="46657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Реализовано в веб-прототипе:</a:t>
            </a:r>
            <a:r>
              <a:rPr lang="ru-RU" b="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" b="0" i="0" u="none" strike="noStrike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criterion-oracle.lovable.app</a:t>
            </a:r>
            <a:br>
              <a:rPr lang="en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b="0" i="1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Выбери параметры метрики → получи критерий и код → используй в работе</a:t>
            </a:r>
            <a:endParaRPr lang="ru-RU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010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A2B65-9E40-C21E-0097-1D9A74E3B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AC46DD2-8A2B-CEB5-DAE1-C251699E17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956F84-7A7B-A15D-58D5-94C22369F4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2575F5-5021-138C-2DDA-5DFD7A06D5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63A1033-A3E7-168D-8170-8A926077D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9" y="1250082"/>
            <a:ext cx="5161758" cy="777025"/>
          </a:xfrm>
        </p:spPr>
        <p:txBody>
          <a:bodyPr>
            <a:normAutofit/>
          </a:bodyPr>
          <a:lstStyle/>
          <a:p>
            <a:r>
              <a:rPr lang="ru-RU" b="1" dirty="0"/>
              <a:t>Регламент внедрения (методика)</a:t>
            </a:r>
            <a:endParaRPr lang="ru-RU" dirty="0"/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D143C3B5-8F73-537D-3FCF-9A3B834B7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261053"/>
              </p:ext>
            </p:extLst>
          </p:nvPr>
        </p:nvGraphicFramePr>
        <p:xfrm>
          <a:off x="585899" y="1838139"/>
          <a:ext cx="11078880" cy="4631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960">
                  <a:extLst>
                    <a:ext uri="{9D8B030D-6E8A-4147-A177-3AD203B41FA5}">
                      <a16:colId xmlns:a16="http://schemas.microsoft.com/office/drawing/2014/main" val="3159739939"/>
                    </a:ext>
                  </a:extLst>
                </a:gridCol>
                <a:gridCol w="3692960">
                  <a:extLst>
                    <a:ext uri="{9D8B030D-6E8A-4147-A177-3AD203B41FA5}">
                      <a16:colId xmlns:a16="http://schemas.microsoft.com/office/drawing/2014/main" val="945736993"/>
                    </a:ext>
                  </a:extLst>
                </a:gridCol>
                <a:gridCol w="3692960">
                  <a:extLst>
                    <a:ext uri="{9D8B030D-6E8A-4147-A177-3AD203B41FA5}">
                      <a16:colId xmlns:a16="http://schemas.microsoft.com/office/drawing/2014/main" val="572206158"/>
                    </a:ext>
                  </a:extLst>
                </a:gridCol>
              </a:tblGrid>
              <a:tr h="626952">
                <a:tc>
                  <a:txBody>
                    <a:bodyPr/>
                    <a:lstStyle/>
                    <a:p>
                      <a:pPr algn="ctr"/>
                      <a:r>
                        <a:rPr lang="ru-RU" sz="17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Стандартизация статистического анализа</a:t>
                      </a:r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Работа с данными</a:t>
                      </a:r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Монетизация и вовлечение</a:t>
                      </a:r>
                      <a:endParaRPr lang="ru-RU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946410"/>
                  </a:ext>
                </a:extLst>
              </a:tr>
              <a:tr h="40044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Принять единый регламент выбора критерия (полный текст в Приложении ВКР)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Внедрить </a:t>
                      </a:r>
                      <a:r>
                        <a:rPr lang="e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Unified Decision Tree</a:t>
                      </a: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Criterion Oracle</a:t>
                      </a:r>
                      <a:r>
                        <a:rPr lang="e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как единый корпоративный стандарт выбора критерия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Для непрерывных метрик с ненормальным распределением → Манна-Уитни или бутстрап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Для бинарных метрик на больших выборках → </a:t>
                      </a:r>
                      <a:r>
                        <a:rPr lang="e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Z-</a:t>
                      </a: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тест, при наличии ковариат → логистическая регрессия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Для анализа удержания (</a:t>
                      </a:r>
                      <a:r>
                        <a:rPr lang="e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retention) → Log-rank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dirty="0"/>
                        <a:t>-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Унифицировать идентификаторы пользователей между платформами (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user_id, cid, passport_id)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dirty="0"/>
                        <a:t>-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Добавить поле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platform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 все аналитические таблицы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dirty="0"/>
                        <a:t>-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Создать единую витрину для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A/B-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тестов с предрасчитанными метриками</a:t>
                      </a:r>
                    </a:p>
                    <a:p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dirty="0"/>
                        <a:t>-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LTV Premier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13 раз выше → использовать кросс-промо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Rutube</a:t>
                      </a:r>
                    </a:p>
                    <a:p>
                      <a:r>
                        <a:rPr lang="ru-RU" sz="1700" dirty="0"/>
                        <a:t>-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Rutube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лидирует по досмотру 100% (шортсы) → адаптировать успешные форматы для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</a:p>
                    <a:p>
                      <a:r>
                        <a:rPr lang="ru-RU" sz="1600" dirty="0"/>
                        <a:t>-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 ARPPU (585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руб.) выше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ARPU (480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руб.) — есть потенциал по конвертации неплатящих пользователей</a:t>
                      </a:r>
                      <a:br>
                        <a:rPr lang="ru-RU" sz="1600" dirty="0"/>
                      </a:br>
                      <a:endParaRPr lang="ru-RU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967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160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F1613F2-978A-05B5-900E-75637E9353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D199A3-38E6-3017-D6CE-6056213FBF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7684DC-FB7B-8C39-5C18-5FCABA6F5C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DBF4295-F686-6F5E-0196-C1608866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Направления дальнейшего развития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E1D043-A5A3-25AC-190A-75BB673DF6E0}"/>
              </a:ext>
            </a:extLst>
          </p:cNvPr>
          <p:cNvSpPr txBox="1"/>
          <p:nvPr/>
        </p:nvSpPr>
        <p:spPr>
          <a:xfrm>
            <a:off x="3923413" y="2372945"/>
            <a:ext cx="38254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Расширение </a:t>
            </a:r>
            <a:r>
              <a:rPr lang="en" b="1" dirty="0"/>
              <a:t>ML-</a:t>
            </a:r>
            <a:r>
              <a:rPr lang="ru-RU" b="1" dirty="0"/>
              <a:t>компоненты</a:t>
            </a:r>
            <a:endParaRPr lang="ru-RU" dirty="0"/>
          </a:p>
          <a:p>
            <a:r>
              <a:rPr lang="ru-RU" dirty="0"/>
              <a:t>- Обучение модели для автоматического выбора критерия</a:t>
            </a:r>
          </a:p>
          <a:p>
            <a:r>
              <a:rPr lang="ru-RU" dirty="0"/>
              <a:t>- Признаки: тип метрики, размер выборки, нормальность, дисперсии</a:t>
            </a:r>
          </a:p>
          <a:p>
            <a:r>
              <a:rPr lang="ru-RU" dirty="0"/>
              <a:t>- Предсказание критерия без участия аналитика</a:t>
            </a:r>
          </a:p>
          <a:p>
            <a:r>
              <a:rPr lang="ru-RU" dirty="0"/>
              <a:t>- Валидация на исторических </a:t>
            </a:r>
            <a:r>
              <a:rPr lang="en" dirty="0"/>
              <a:t>A/B-</a:t>
            </a:r>
            <a:r>
              <a:rPr lang="ru-RU" dirty="0"/>
              <a:t>тестах</a:t>
            </a:r>
          </a:p>
          <a:p>
            <a:endParaRPr lang="ru-RU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0F64F8-5BD7-78B8-1107-C04AACB9B6C8}"/>
              </a:ext>
            </a:extLst>
          </p:cNvPr>
          <p:cNvSpPr txBox="1"/>
          <p:nvPr/>
        </p:nvSpPr>
        <p:spPr>
          <a:xfrm>
            <a:off x="354504" y="2372945"/>
            <a:ext cx="357494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 Развитие веб-прототипа </a:t>
            </a:r>
            <a:r>
              <a:rPr lang="en" b="1" dirty="0"/>
              <a:t>Criterion Oracle</a:t>
            </a:r>
            <a:endParaRPr lang="ru-RU" b="1" dirty="0"/>
          </a:p>
          <a:p>
            <a:r>
              <a:rPr lang="ru-RU" dirty="0"/>
              <a:t>- Интерактивный инструмент для выбора статистического критерия</a:t>
            </a:r>
          </a:p>
          <a:p>
            <a:r>
              <a:rPr lang="ru-RU" dirty="0"/>
              <a:t>- Пользователь выбирает: тип метрики, размер выборки, наличие выбросов</a:t>
            </a:r>
          </a:p>
          <a:p>
            <a:r>
              <a:rPr lang="ru-RU" dirty="0"/>
              <a:t>- Система выдаёт: рекомендованный критерий и пример кода</a:t>
            </a:r>
          </a:p>
          <a:p>
            <a:r>
              <a:rPr lang="ru-RU" dirty="0"/>
              <a:t>- Визуализация работы критериев на демо-данных</a:t>
            </a:r>
          </a:p>
          <a:p>
            <a:br>
              <a:rPr lang="ru-RU" dirty="0"/>
            </a:br>
            <a:endParaRPr lang="ru-RU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3A04A8-FF8C-5735-3013-6AF9A647FC2B}"/>
              </a:ext>
            </a:extLst>
          </p:cNvPr>
          <p:cNvSpPr txBox="1"/>
          <p:nvPr/>
        </p:nvSpPr>
        <p:spPr>
          <a:xfrm>
            <a:off x="7748876" y="2372944"/>
            <a:ext cx="382546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Пакет для автоматической проверки предпосылок</a:t>
            </a:r>
            <a:endParaRPr lang="ru-RU" dirty="0"/>
          </a:p>
          <a:p>
            <a:r>
              <a:rPr lang="ru-RU" dirty="0"/>
              <a:t>- Небольшой </a:t>
            </a:r>
            <a:r>
              <a:rPr lang="en" dirty="0"/>
              <a:t>Python-</a:t>
            </a:r>
            <a:r>
              <a:rPr lang="ru-RU" dirty="0"/>
              <a:t>модуль для предварительного анализа метрик</a:t>
            </a:r>
          </a:p>
          <a:p>
            <a:r>
              <a:rPr lang="ru-RU" dirty="0"/>
              <a:t>- Функции: проверка нормальности, равенства дисперсий, наличие выбросов</a:t>
            </a:r>
          </a:p>
          <a:p>
            <a:r>
              <a:rPr lang="ru-RU" dirty="0"/>
              <a:t>- Автоматическая рекомендация критерия по результатам проверок</a:t>
            </a:r>
          </a:p>
          <a:p>
            <a:r>
              <a:rPr lang="ru-RU" dirty="0"/>
              <a:t>- Легко встраивается в существующие пайплайны аналитики</a:t>
            </a:r>
          </a:p>
          <a:p>
            <a:endParaRPr lang="ru-RU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48245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72D4-306E-27E9-A203-6ED11C1D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324D56D-16C9-D74F-5956-8E8DB73A35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515FD2-4505-78E1-8462-190E6BEC8A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574B3E-FF7C-E00B-00AA-10C0DB5469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712E6F4-CC68-C68B-F4A0-361F1E6F4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70" y="1243688"/>
            <a:ext cx="4322530" cy="777025"/>
          </a:xfrm>
        </p:spPr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73F0B9-BF3F-1C2E-5C18-AA5DADE984EB}"/>
              </a:ext>
            </a:extLst>
          </p:cNvPr>
          <p:cNvSpPr txBox="1"/>
          <p:nvPr/>
        </p:nvSpPr>
        <p:spPr>
          <a:xfrm>
            <a:off x="513311" y="1816611"/>
            <a:ext cx="11165377" cy="397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Основные итоги</a:t>
            </a:r>
          </a:p>
          <a:p>
            <a:r>
              <a:rPr lang="ru-RU" sz="1400" b="1" dirty="0"/>
              <a:t>-  Разработан и внедряется регламент выбора критерия</a:t>
            </a:r>
            <a:r>
              <a:rPr lang="ru-RU" sz="1400" dirty="0"/>
              <a:t> для объединённой команды</a:t>
            </a:r>
          </a:p>
          <a:p>
            <a:endParaRPr lang="ru-RU" sz="1400" dirty="0"/>
          </a:p>
          <a:p>
            <a:r>
              <a:rPr lang="ru-RU" sz="1400" b="1" dirty="0"/>
              <a:t>-  Создан веб-прототип </a:t>
            </a:r>
            <a:r>
              <a:rPr lang="en" sz="1400" b="1" dirty="0"/>
              <a:t>Criterion Oracle</a:t>
            </a:r>
            <a:r>
              <a:rPr lang="en" sz="1400" dirty="0"/>
              <a:t>, </a:t>
            </a:r>
            <a:r>
              <a:rPr lang="ru-RU" sz="1400" dirty="0"/>
              <a:t>реализующий этот регламент</a:t>
            </a:r>
            <a:endParaRPr lang="en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-  </a:t>
            </a:r>
            <a:r>
              <a:rPr lang="ru-RU" sz="1400" b="1" dirty="0"/>
              <a:t>Разработана и валидирована унифицированная методика выбора статистических критериев — </a:t>
            </a:r>
            <a:r>
              <a:rPr lang="en" sz="1400" b="1" dirty="0"/>
              <a:t>Unified Decision Tree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ru-RU" sz="1400" b="1" dirty="0"/>
              <a:t>-  Проанализировано 22 млн строк реальных данных просмотров и подписок </a:t>
            </a:r>
            <a:r>
              <a:rPr lang="en" sz="1400" b="1" dirty="0"/>
              <a:t>Rutube </a:t>
            </a:r>
            <a:r>
              <a:rPr lang="ru-RU" sz="1400" b="1" dirty="0"/>
              <a:t>и </a:t>
            </a:r>
            <a:r>
              <a:rPr lang="en" sz="1400" b="1" dirty="0"/>
              <a:t>Premier </a:t>
            </a:r>
            <a:r>
              <a:rPr lang="ru-RU" sz="1400" b="1" dirty="0"/>
              <a:t>за 2024–2025 гг.</a:t>
            </a:r>
          </a:p>
          <a:p>
            <a:pPr algn="l">
              <a:spcBef>
                <a:spcPts val="450"/>
              </a:spcBef>
              <a:spcAft>
                <a:spcPts val="600"/>
              </a:spcAft>
            </a:pPr>
            <a:r>
              <a:rPr lang="ru-RU" sz="1400" b="1" dirty="0"/>
              <a:t>-  Доказано: Манна-Уитни устойчивее и чувствительнее </a:t>
            </a:r>
            <a:r>
              <a:rPr lang="en" sz="1400" b="1" dirty="0"/>
              <a:t>t-</a:t>
            </a:r>
            <a:r>
              <a:rPr lang="ru-RU" sz="1400" b="1" dirty="0"/>
              <a:t>теста: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1" dirty="0"/>
              <a:t>при </a:t>
            </a:r>
            <a:r>
              <a:rPr lang="en" sz="1400" b="1" dirty="0"/>
              <a:t>n = 100 t-</a:t>
            </a:r>
            <a:r>
              <a:rPr lang="ru-RU" sz="1400" b="1" dirty="0"/>
              <a:t>тест не значим (</a:t>
            </a:r>
            <a:r>
              <a:rPr lang="en" sz="1400" b="1" dirty="0"/>
              <a:t>p = 0.161), </a:t>
            </a:r>
            <a:r>
              <a:rPr lang="ru-RU" sz="1400" b="1" dirty="0"/>
              <a:t>Манна-Уитни значим (</a:t>
            </a:r>
            <a:r>
              <a:rPr lang="en" sz="1400" b="1" dirty="0"/>
              <a:t>p = 0.012)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1" dirty="0"/>
              <a:t>при 1% выбросов </a:t>
            </a:r>
            <a:r>
              <a:rPr lang="en" sz="1400" b="1" dirty="0"/>
              <a:t>t-</a:t>
            </a:r>
            <a:r>
              <a:rPr lang="ru-RU" sz="1400" b="1" dirty="0"/>
              <a:t>тест ломается (</a:t>
            </a:r>
            <a:r>
              <a:rPr lang="en" sz="1400" b="1" dirty="0"/>
              <a:t>p = 0.497), </a:t>
            </a:r>
            <a:r>
              <a:rPr lang="ru-RU" sz="1400" b="1" dirty="0"/>
              <a:t>Манна-Уитни работает (</a:t>
            </a:r>
            <a:r>
              <a:rPr lang="en" sz="1400" b="1" dirty="0"/>
              <a:t>p = 5.38e-12)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ru-RU" sz="1400" b="1" dirty="0"/>
              <a:t>-  Бутстрап даёт реалистичные доверительные интервалы (ширина 46.8 сек против 1.8 сек у </a:t>
            </a:r>
            <a:r>
              <a:rPr lang="en" sz="1400" b="1" dirty="0"/>
              <a:t>t-</a:t>
            </a:r>
            <a:r>
              <a:rPr lang="ru-RU" sz="1400" b="1" dirty="0"/>
              <a:t>теста)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ru-RU" sz="1400" b="1" dirty="0"/>
              <a:t>-  </a:t>
            </a:r>
            <a:r>
              <a:rPr lang="en" sz="1400" b="1" dirty="0"/>
              <a:t>Log-rank </a:t>
            </a:r>
            <a:r>
              <a:rPr lang="ru-RU" sz="1400" b="1" dirty="0"/>
              <a:t>тест подтвердил значимые различия в удержании между платформами (</a:t>
            </a:r>
            <a:r>
              <a:rPr lang="el-GR" sz="1400" b="1" dirty="0"/>
              <a:t>χ² = 13037.8, </a:t>
            </a:r>
            <a:r>
              <a:rPr lang="en" sz="1400" b="1" dirty="0"/>
              <a:t>p ≈ 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2167A5-12F7-8DFB-E634-D5B464AF88DB}"/>
              </a:ext>
            </a:extLst>
          </p:cNvPr>
          <p:cNvSpPr txBox="1"/>
          <p:nvPr/>
        </p:nvSpPr>
        <p:spPr>
          <a:xfrm>
            <a:off x="513311" y="5760770"/>
            <a:ext cx="60980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1" dirty="0">
                <a:solidFill>
                  <a:srgbClr val="0F1115"/>
                </a:solidFill>
                <a:effectLst/>
                <a:latin typeface="quote-cjk-patch"/>
              </a:rPr>
              <a:t>Практическая ценность:</a:t>
            </a:r>
            <a:br>
              <a:rPr lang="ru-RU" sz="1600" i="1" dirty="0"/>
            </a:b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Регламент готов к внедрению в объединённую команду аналитики </a:t>
            </a:r>
            <a:r>
              <a:rPr lang="en" sz="1600" b="0" i="1" dirty="0">
                <a:solidFill>
                  <a:srgbClr val="0F1115"/>
                </a:solidFill>
                <a:effectLst/>
                <a:latin typeface="quote-cjk-patch"/>
              </a:rPr>
              <a:t>Rutube </a:t>
            </a: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и </a:t>
            </a:r>
            <a:r>
              <a:rPr lang="en" sz="1600" b="0" i="1" dirty="0">
                <a:solidFill>
                  <a:srgbClr val="0F1115"/>
                </a:solidFill>
                <a:effectLst/>
                <a:latin typeface="quote-cjk-patch"/>
              </a:rPr>
              <a:t>Premier</a:t>
            </a:r>
            <a:endParaRPr lang="ru-RU" sz="1600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D1EB09-0D7F-B032-594F-8171F0CC298E}"/>
              </a:ext>
            </a:extLst>
          </p:cNvPr>
          <p:cNvSpPr txBox="1"/>
          <p:nvPr/>
        </p:nvSpPr>
        <p:spPr>
          <a:xfrm>
            <a:off x="6611369" y="5760769"/>
            <a:ext cx="54277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1" dirty="0">
                <a:solidFill>
                  <a:srgbClr val="0F1115"/>
                </a:solidFill>
                <a:effectLst/>
                <a:latin typeface="quote-cjk-patch"/>
              </a:rPr>
              <a:t>Научная новизна:</a:t>
            </a:r>
            <a:br>
              <a:rPr lang="ru-RU" sz="1600" i="1" dirty="0"/>
            </a:b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Впервые задача выбора критериев решена для сценария слияния </a:t>
            </a:r>
            <a:r>
              <a:rPr lang="en" sz="1600" b="0" i="1" dirty="0">
                <a:solidFill>
                  <a:srgbClr val="0F1115"/>
                </a:solidFill>
                <a:effectLst/>
                <a:latin typeface="quote-cjk-patch"/>
              </a:rPr>
              <a:t>UGC- </a:t>
            </a: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и </a:t>
            </a:r>
            <a:r>
              <a:rPr lang="en" sz="1600" b="0" i="1" dirty="0">
                <a:solidFill>
                  <a:srgbClr val="0F1115"/>
                </a:solidFill>
                <a:effectLst/>
                <a:latin typeface="quote-cjk-patch"/>
              </a:rPr>
              <a:t>SVOD-</a:t>
            </a: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платформ на реальных данных</a:t>
            </a:r>
            <a:endParaRPr lang="ru-RU" sz="1600" i="1" dirty="0"/>
          </a:p>
        </p:txBody>
      </p:sp>
    </p:spTree>
    <p:extLst>
      <p:ext uri="{BB962C8B-B14F-4D97-AF65-F5344CB8AC3E}">
        <p14:creationId xmlns:p14="http://schemas.microsoft.com/office/powerpoint/2010/main" val="3001710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6F48A-429C-723C-BED8-61EACE12F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11155A4-68B9-4721-0321-4ED3D67B10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F826A8-7731-3FE1-D5C0-A192E5263E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5F6D7C-12E1-1294-FDBD-0D59762A91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620B8C0-4C4C-FDA6-04C6-4CE5DBF0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314" y="2436330"/>
            <a:ext cx="6593377" cy="777025"/>
          </a:xfrm>
        </p:spPr>
        <p:txBody>
          <a:bodyPr>
            <a:noAutofit/>
          </a:bodyPr>
          <a:lstStyle/>
          <a:p>
            <a:r>
              <a:rPr lang="ru-RU" sz="4800" dirty="0"/>
              <a:t>Спасибо за внимание</a:t>
            </a:r>
            <a:r>
              <a:rPr lang="en-US" sz="4800" dirty="0"/>
              <a:t>!</a:t>
            </a:r>
            <a:endParaRPr lang="ru-RU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6CF6A4-3645-CB2B-57E8-829D76B12AD8}"/>
              </a:ext>
            </a:extLst>
          </p:cNvPr>
          <p:cNvSpPr txBox="1"/>
          <p:nvPr/>
        </p:nvSpPr>
        <p:spPr>
          <a:xfrm>
            <a:off x="410134" y="5031576"/>
            <a:ext cx="6098058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Бохонко Максим Дмитриевич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sz="1600" b="0" i="1" dirty="0">
                <a:solidFill>
                  <a:srgbClr val="0F1115"/>
                </a:solidFill>
                <a:effectLst/>
                <a:latin typeface="quote-cjk-patch"/>
              </a:rPr>
              <a:t>maxbokh@gmail.com</a:t>
            </a:r>
            <a:endParaRPr lang="en" sz="1600" b="0" i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НИУ ВШЭ, магистратура «Аналитика больших данных»</a:t>
            </a:r>
          </a:p>
        </p:txBody>
      </p:sp>
    </p:spTree>
    <p:extLst>
      <p:ext uri="{BB962C8B-B14F-4D97-AF65-F5344CB8AC3E}">
        <p14:creationId xmlns:p14="http://schemas.microsoft.com/office/powerpoint/2010/main" val="1494277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3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21957</TotalTime>
  <Words>1283</Words>
  <Application>Microsoft Macintosh PowerPoint</Application>
  <PresentationFormat>Широкоэкранный</PresentationFormat>
  <Paragraphs>249</Paragraphs>
  <Slides>15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HSE Sans</vt:lpstr>
      <vt:lpstr>quote-cjk-patch</vt:lpstr>
      <vt:lpstr>Office Theme</vt:lpstr>
      <vt:lpstr>Разработка унифицированной методики выбора статистических критериев для анализа продуктовых метрик в условиях интеграции UGC- и SVOD-платформ (На примере слияния Rutube и Premier)</vt:lpstr>
      <vt:lpstr>Актуальность и проблематика </vt:lpstr>
      <vt:lpstr>Цель и задачи </vt:lpstr>
      <vt:lpstr>Данные и методология </vt:lpstr>
      <vt:lpstr>Презентация PowerPoint</vt:lpstr>
      <vt:lpstr>Презентация PowerPoint</vt:lpstr>
      <vt:lpstr>Сравнение критериев: t-тест vs Манна-Уитни</vt:lpstr>
      <vt:lpstr>Устойчивость критериев к выбросам</vt:lpstr>
      <vt:lpstr>Survival analysis: удержание пользователей</vt:lpstr>
      <vt:lpstr>Unified Decision Tree — схема выбора статистического критерия </vt:lpstr>
      <vt:lpstr>Регламент внедрения (методика)</vt:lpstr>
      <vt:lpstr>Направления дальнейшего развития</vt:lpstr>
      <vt:lpstr>Заключение</vt:lpstr>
      <vt:lpstr>Спасибо за внимание!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mbohonko</cp:lastModifiedBy>
  <cp:revision>24</cp:revision>
  <cp:lastPrinted>2021-11-11T13:08:42Z</cp:lastPrinted>
  <dcterms:created xsi:type="dcterms:W3CDTF">2021-11-11T08:52:47Z</dcterms:created>
  <dcterms:modified xsi:type="dcterms:W3CDTF">2026-05-20T20:40:59Z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